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3"/>
  </p:notesMasterIdLst>
  <p:sldIdLst>
    <p:sldId id="256" r:id="rId5"/>
    <p:sldId id="257" r:id="rId6"/>
    <p:sldId id="267" r:id="rId7"/>
    <p:sldId id="266" r:id="rId8"/>
    <p:sldId id="284" r:id="rId9"/>
    <p:sldId id="263" r:id="rId10"/>
    <p:sldId id="259" r:id="rId11"/>
    <p:sldId id="270" r:id="rId12"/>
    <p:sldId id="268" r:id="rId13"/>
    <p:sldId id="264" r:id="rId14"/>
    <p:sldId id="288" r:id="rId15"/>
    <p:sldId id="272" r:id="rId16"/>
    <p:sldId id="318" r:id="rId17"/>
    <p:sldId id="287" r:id="rId18"/>
    <p:sldId id="309" r:id="rId19"/>
    <p:sldId id="320" r:id="rId20"/>
    <p:sldId id="321" r:id="rId21"/>
    <p:sldId id="327" r:id="rId22"/>
    <p:sldId id="322" r:id="rId23"/>
    <p:sldId id="323" r:id="rId24"/>
    <p:sldId id="319" r:id="rId25"/>
    <p:sldId id="324" r:id="rId26"/>
    <p:sldId id="325" r:id="rId27"/>
    <p:sldId id="326" r:id="rId28"/>
    <p:sldId id="328" r:id="rId29"/>
    <p:sldId id="329" r:id="rId30"/>
    <p:sldId id="330" r:id="rId31"/>
    <p:sldId id="331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CF95"/>
    <a:srgbClr val="FFFFFF"/>
    <a:srgbClr val="F2FBFF"/>
    <a:srgbClr val="DCEA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2FBB2E-47FF-4A81-9250-2DB68CC975AC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0F585C-22CA-4A20-942E-548D9BE3C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959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תמריקסיה עשוי להיות הפתרון למזיק פסילת ההדר, מעניין חוקרים, רוצים לדעת איפה הוא נמצא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0F585C-22CA-4A20-942E-548D9BE3CD3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5683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dirty="0"/>
              <a:t>כדי להזין את</a:t>
            </a:r>
            <a:r>
              <a:rPr lang="en-US" dirty="0" err="1"/>
              <a:t>StarDBI</a:t>
            </a:r>
            <a:r>
              <a:rPr lang="en-US" dirty="0"/>
              <a:t> </a:t>
            </a:r>
            <a:r>
              <a:rPr lang="he-IL" dirty="0"/>
              <a:t> בדאטה מהשטח בקנה מידה רחב, אנחנו משתמשים ב-</a:t>
            </a:r>
            <a:r>
              <a:rPr lang="en-US" dirty="0" err="1"/>
              <a:t>Swipelab</a:t>
            </a:r>
            <a:r>
              <a:rPr lang="en-US" dirty="0"/>
              <a:t> </a:t>
            </a:r>
            <a:r>
              <a:rPr lang="he-IL" dirty="0"/>
              <a:t> </a:t>
            </a:r>
          </a:p>
          <a:p>
            <a:pPr algn="r" rtl="1"/>
            <a:r>
              <a:rPr lang="he-IL" dirty="0"/>
              <a:t>פלטפורמה שמאפשרת לאסוף תצפיות מתויגות מאנשים אמיתיים, בצורה פשוטה ויעילה.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0F585C-22CA-4A20-942E-548D9BE3CD3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2247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לקצר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0F585C-22CA-4A20-942E-548D9BE3CD3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7982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עפרי</a:t>
            </a:r>
            <a:endParaRPr/>
          </a:p>
        </p:txBody>
      </p:sp>
      <p:sp>
        <p:nvSpPr>
          <p:cNvPr id="117" name="Google Shape;117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אביהוא</a:t>
            </a:r>
            <a:endParaRPr/>
          </a:p>
        </p:txBody>
      </p:sp>
      <p:sp>
        <p:nvSpPr>
          <p:cNvPr id="142" name="Google Shape;142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שגיא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0F585C-22CA-4A20-942E-548D9BE3CD3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4587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0F585C-22CA-4A20-942E-548D9BE3CD3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5822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אביהוא</a:t>
            </a:r>
            <a:endParaRPr/>
          </a:p>
        </p:txBody>
      </p:sp>
      <p:sp>
        <p:nvSpPr>
          <p:cNvPr id="153" name="Google Shape;153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אביהוא</a:t>
            </a:r>
            <a:endParaRPr/>
          </a:p>
        </p:txBody>
      </p:sp>
      <p:sp>
        <p:nvSpPr>
          <p:cNvPr id="227" name="Google Shape;227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עפרי</a:t>
            </a:r>
            <a:endParaRPr/>
          </a:p>
        </p:txBody>
      </p:sp>
      <p:sp>
        <p:nvSpPr>
          <p:cNvPr id="256" name="Google Shape;25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אביהוא</a:t>
            </a:r>
            <a:endParaRPr/>
          </a:p>
        </p:txBody>
      </p:sp>
      <p:sp>
        <p:nvSpPr>
          <p:cNvPr id="220" name="Google Shape;220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A676A78D-7B9A-A37F-2931-8C5AFA3B6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:notes">
            <a:extLst>
              <a:ext uri="{FF2B5EF4-FFF2-40B4-BE49-F238E27FC236}">
                <a16:creationId xmlns:a16="http://schemas.microsoft.com/office/drawing/2014/main" id="{FD722DA3-0B74-65A1-994F-305F147367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p11:notes">
            <a:extLst>
              <a:ext uri="{FF2B5EF4-FFF2-40B4-BE49-F238E27FC236}">
                <a16:creationId xmlns:a16="http://schemas.microsoft.com/office/drawing/2014/main" id="{299BAAE6-BD33-1177-06E7-020EC5BB2B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אביהוא</a:t>
            </a:r>
            <a:endParaRPr/>
          </a:p>
        </p:txBody>
      </p:sp>
      <p:sp>
        <p:nvSpPr>
          <p:cNvPr id="220" name="Google Shape;220;p11:notes">
            <a:extLst>
              <a:ext uri="{FF2B5EF4-FFF2-40B4-BE49-F238E27FC236}">
                <a16:creationId xmlns:a16="http://schemas.microsoft.com/office/drawing/2014/main" id="{CE9EEF2C-49F5-03CF-DB74-A175EBA5A44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54220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31E4C-C603-593F-F1B0-7F26DD183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416A53-9585-7CB8-5542-1E348298E7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7E70A8-5BEC-467F-402C-F2AACC14D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ECB32-441B-448B-A2B4-2A3CBC17D8CF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41345-C7D0-4C3B-FDD0-D55B59BAF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1034C-3CEE-5A77-E65E-2EB0B6776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A937A-2DD4-4962-A9E6-FC7BAA5D5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676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1DFB6-EB11-85BB-B673-A514047F7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1C1F1A-EEA1-EC89-A2F5-1E63973DF2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691A8-0449-A8AF-65A1-77D43DB1E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ECB32-441B-448B-A2B4-2A3CBC17D8CF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907CA8-0449-2BAD-4706-151B41E71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FADE8-2966-BDAF-4C84-28D01351C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A937A-2DD4-4962-A9E6-FC7BAA5D5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853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CABA8-72D2-8A03-208A-AED1543CC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C4A7A4-D850-8847-6C31-6D661908E3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51F52A-9EB5-BA95-1722-EC5288A92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ECB32-441B-448B-A2B4-2A3CBC17D8CF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DBC68E-FAB2-D31B-5F69-0B5636863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CE85A8-1EFA-F52D-0B51-8EB8D941F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A937A-2DD4-4962-A9E6-FC7BAA5D5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966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D8197-F7E3-6406-E45E-C8BADAC32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C1146-EC90-E8A2-9C0A-709F9D8A6E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91E19A-430C-03C2-0497-A4971D9CF6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CF5D0F-058C-0284-B23A-1004782D1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ECB32-441B-448B-A2B4-2A3CBC17D8CF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369856-53B3-0FA9-4294-570060D9E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E823D5-5935-9242-6625-6FA72DE0B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A937A-2DD4-4962-A9E6-FC7BAA5D5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819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9898E-4F96-E711-F79C-9B8103BD7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0BB0AA-B5E2-CF5E-EFD7-B7CAE2E09B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47C202-8594-41F9-D5B0-BF4E2D4ED2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0641D5-292E-C329-09D8-402C8C4951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A65F0B-B355-0AA7-917E-F54612C6D1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A9F318-32CD-B546-5C07-FF3D403A7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ECB32-441B-448B-A2B4-2A3CBC17D8CF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D41B8C-B5F4-F985-BEA8-68EA949EA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9E4BA0-6545-7908-9BDD-A241D0567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A937A-2DD4-4962-A9E6-FC7BAA5D5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772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B7D48-DA4E-BFC5-F605-028026024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8DBC78-2E5A-27E1-1D8E-EE5352935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ECB32-441B-448B-A2B4-2A3CBC17D8CF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A0928E-15D4-0216-1CBB-7D8599B92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DE1A1E-FD62-1BA4-D18F-4905C159E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A937A-2DD4-4962-A9E6-FC7BAA5D5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087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37AA6E-4819-4FF1-27BA-95F0FA646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ECB32-441B-448B-A2B4-2A3CBC17D8CF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D6864B-AEDB-0C3E-F14B-25B410482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126CC4-562E-206B-13ED-3A8BEFE9D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A937A-2DD4-4962-A9E6-FC7BAA5D5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662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52E8B-AD13-6419-0037-1536560A3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ED986-245F-1816-8CBA-B1F2265833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CA6D86-CC7B-9668-570A-5A45E8CC74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A5B972-EDD8-414B-A0CE-E7E01E697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ECB32-441B-448B-A2B4-2A3CBC17D8CF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F1E11E-EB3F-81B4-64D0-CB3C996E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2FEA02-8694-B59C-7C3F-1A286AB0E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A937A-2DD4-4962-A9E6-FC7BAA5D5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943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E2533-E21C-4BB1-A324-3CAE248FD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280EC6-1327-FAF4-7F8B-9513091927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849E86-A7C4-1EBB-67BF-9D2A3F16C6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607AF1-CC07-965A-CECD-9A7F3642E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ECB32-441B-448B-A2B4-2A3CBC17D8CF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B95E2A-4D46-A0AE-7C30-63BF59659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CAC7AC-842A-729B-04E9-B1906494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A937A-2DD4-4962-A9E6-FC7BAA5D5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572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9E936-FAD9-60CA-75AB-FB8301873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5916CB-9373-9B3E-5995-CC33AFFB15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9E29B-9410-27C2-7CA1-6E16E28B3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ECB32-441B-448B-A2B4-2A3CBC17D8CF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E2B08E-FDA5-6081-441A-78BF528CA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08891-A5FB-271A-428A-4C1D3F142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A937A-2DD4-4962-A9E6-FC7BAA5D5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352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1A877C-9572-D4A8-52B8-89037EF428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051182-40A1-7958-D7E3-7E58E2EA2B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277709-EBEC-D412-177E-40EB06A12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ECB32-441B-448B-A2B4-2A3CBC17D8CF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BD116-7A89-CEAF-DC07-809027056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32942A-BBD2-2A15-171A-9D861F8B9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A937A-2DD4-4962-A9E6-FC7BAA5D5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723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5516B6-4C65-3AAA-0F7B-A3E47686E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05EBCA-46E6-6CD2-1876-5AF302CAA9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3739E8-A04D-94F0-3D17-125DD7C517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4ECB32-441B-448B-A2B4-2A3CBC17D8CF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00C54E-EC55-8FE0-EBAB-9467397650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CEFD9-A89B-A5B8-4ED6-26094224CC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AA937A-2DD4-4962-A9E6-FC7BAA5D5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244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microsoft.com/office/2007/relationships/hdphoto" Target="../media/hdphoto1.wdp"/><Relationship Id="rId10" Type="http://schemas.microsoft.com/office/2007/relationships/hdphoto" Target="../media/hdphoto2.wdp"/><Relationship Id="rId4" Type="http://schemas.openxmlformats.org/officeDocument/2006/relationships/image" Target="../media/image6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0.png"/><Relationship Id="rId18" Type="http://schemas.openxmlformats.org/officeDocument/2006/relationships/image" Target="../media/image24.png"/><Relationship Id="rId26" Type="http://schemas.openxmlformats.org/officeDocument/2006/relationships/slide" Target="slide8.xml"/><Relationship Id="rId3" Type="http://schemas.openxmlformats.org/officeDocument/2006/relationships/image" Target="../media/image14.png"/><Relationship Id="rId21" Type="http://schemas.microsoft.com/office/2007/relationships/hdphoto" Target="../media/hdphoto7.wdp"/><Relationship Id="rId7" Type="http://schemas.microsoft.com/office/2007/relationships/hdphoto" Target="../media/hdphoto4.wdp"/><Relationship Id="rId12" Type="http://schemas.microsoft.com/office/2007/relationships/hdphoto" Target="../media/hdphoto6.wdp"/><Relationship Id="rId17" Type="http://schemas.openxmlformats.org/officeDocument/2006/relationships/image" Target="../media/image23.png"/><Relationship Id="rId25" Type="http://schemas.openxmlformats.org/officeDocument/2006/relationships/slide" Target="slide9.xml"/><Relationship Id="rId2" Type="http://schemas.openxmlformats.org/officeDocument/2006/relationships/notesSlide" Target="../notesSlides/notesSlide6.xml"/><Relationship Id="rId16" Type="http://schemas.openxmlformats.org/officeDocument/2006/relationships/slide" Target="slide2.xml"/><Relationship Id="rId20" Type="http://schemas.openxmlformats.org/officeDocument/2006/relationships/image" Target="../media/image26.png"/><Relationship Id="rId29" Type="http://schemas.openxmlformats.org/officeDocument/2006/relationships/slide" Target="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19.png"/><Relationship Id="rId24" Type="http://schemas.openxmlformats.org/officeDocument/2006/relationships/image" Target="../media/image28.gif"/><Relationship Id="rId32" Type="http://schemas.openxmlformats.org/officeDocument/2006/relationships/image" Target="../media/image31.png"/><Relationship Id="rId5" Type="http://schemas.openxmlformats.org/officeDocument/2006/relationships/image" Target="../media/image15.png"/><Relationship Id="rId15" Type="http://schemas.openxmlformats.org/officeDocument/2006/relationships/image" Target="../media/image22.png"/><Relationship Id="rId23" Type="http://schemas.openxmlformats.org/officeDocument/2006/relationships/image" Target="../media/image27.gif"/><Relationship Id="rId28" Type="http://schemas.openxmlformats.org/officeDocument/2006/relationships/slide" Target="slide10.xml"/><Relationship Id="rId10" Type="http://schemas.openxmlformats.org/officeDocument/2006/relationships/image" Target="../media/image18.png"/><Relationship Id="rId19" Type="http://schemas.openxmlformats.org/officeDocument/2006/relationships/image" Target="../media/image25.png"/><Relationship Id="rId31" Type="http://schemas.openxmlformats.org/officeDocument/2006/relationships/image" Target="../media/image30.jpeg"/><Relationship Id="rId4" Type="http://schemas.microsoft.com/office/2007/relationships/hdphoto" Target="../media/hdphoto3.wdp"/><Relationship Id="rId9" Type="http://schemas.microsoft.com/office/2007/relationships/hdphoto" Target="../media/hdphoto5.wdp"/><Relationship Id="rId14" Type="http://schemas.openxmlformats.org/officeDocument/2006/relationships/image" Target="../media/image21.png"/><Relationship Id="rId22" Type="http://schemas.openxmlformats.org/officeDocument/2006/relationships/slide" Target="slide6.xml"/><Relationship Id="rId27" Type="http://schemas.openxmlformats.org/officeDocument/2006/relationships/slide" Target="slide14.xml"/><Relationship Id="rId30" Type="http://schemas.openxmlformats.org/officeDocument/2006/relationships/image" Target="../media/image29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microsoft.com/office/2007/relationships/hdphoto" Target="../media/hdphoto8.wdp"/><Relationship Id="rId18" Type="http://schemas.openxmlformats.org/officeDocument/2006/relationships/image" Target="../media/image37.png"/><Relationship Id="rId26" Type="http://schemas.openxmlformats.org/officeDocument/2006/relationships/image" Target="../media/image44.png"/><Relationship Id="rId3" Type="http://schemas.openxmlformats.org/officeDocument/2006/relationships/image" Target="../media/image32.png"/><Relationship Id="rId21" Type="http://schemas.openxmlformats.org/officeDocument/2006/relationships/image" Target="../media/image39.png"/><Relationship Id="rId7" Type="http://schemas.openxmlformats.org/officeDocument/2006/relationships/slide" Target="slide2.xml"/><Relationship Id="rId12" Type="http://schemas.openxmlformats.org/officeDocument/2006/relationships/image" Target="../media/image33.png"/><Relationship Id="rId17" Type="http://schemas.openxmlformats.org/officeDocument/2006/relationships/image" Target="../media/image36.png"/><Relationship Id="rId25" Type="http://schemas.openxmlformats.org/officeDocument/2006/relationships/image" Target="../media/image43.png"/><Relationship Id="rId2" Type="http://schemas.openxmlformats.org/officeDocument/2006/relationships/notesSlide" Target="../notesSlides/notesSlide7.xml"/><Relationship Id="rId16" Type="http://schemas.microsoft.com/office/2007/relationships/hdphoto" Target="../media/hdphoto9.wdp"/><Relationship Id="rId20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slide" Target="slide4.xml"/><Relationship Id="rId24" Type="http://schemas.openxmlformats.org/officeDocument/2006/relationships/image" Target="../media/image42.png"/><Relationship Id="rId5" Type="http://schemas.openxmlformats.org/officeDocument/2006/relationships/image" Target="../media/image20.png"/><Relationship Id="rId15" Type="http://schemas.openxmlformats.org/officeDocument/2006/relationships/image" Target="../media/image35.png"/><Relationship Id="rId23" Type="http://schemas.openxmlformats.org/officeDocument/2006/relationships/image" Target="../media/image41.png"/><Relationship Id="rId10" Type="http://schemas.openxmlformats.org/officeDocument/2006/relationships/image" Target="../media/image25.png"/><Relationship Id="rId19" Type="http://schemas.microsoft.com/office/2007/relationships/hdphoto" Target="../media/hdphoto10.wdp"/><Relationship Id="rId4" Type="http://schemas.openxmlformats.org/officeDocument/2006/relationships/slide" Target="slide7.xml"/><Relationship Id="rId9" Type="http://schemas.openxmlformats.org/officeDocument/2006/relationships/image" Target="../media/image24.png"/><Relationship Id="rId14" Type="http://schemas.openxmlformats.org/officeDocument/2006/relationships/image" Target="../media/image34.png"/><Relationship Id="rId22" Type="http://schemas.openxmlformats.org/officeDocument/2006/relationships/image" Target="../media/image40.png"/><Relationship Id="rId27" Type="http://schemas.openxmlformats.org/officeDocument/2006/relationships/image" Target="../media/image4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microsoft.com/office/2007/relationships/hdphoto" Target="../media/hdphoto11.wdp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jp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swipelab.cs.bgu.ac.il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gi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9" Type="http://schemas.openxmlformats.org/officeDocument/2006/relationships/image" Target="../media/image74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jpeg"/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jpe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jpeg"/><Relationship Id="rId2" Type="http://schemas.openxmlformats.org/officeDocument/2006/relationships/image" Target="../media/image90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1B17F-42C7-1116-2E28-6AA490A8F3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1533B8-F293-D115-5A1B-3F3996D17B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Google Shape;94;p2">
            <a:extLst>
              <a:ext uri="{FF2B5EF4-FFF2-40B4-BE49-F238E27FC236}">
                <a16:creationId xmlns:a16="http://schemas.microsoft.com/office/drawing/2014/main" id="{D464D562-8A92-0777-6FC8-A475AAFD522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08617" y="168579"/>
            <a:ext cx="6174766" cy="617476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89;p1">
            <a:extLst>
              <a:ext uri="{FF2B5EF4-FFF2-40B4-BE49-F238E27FC236}">
                <a16:creationId xmlns:a16="http://schemas.microsoft.com/office/drawing/2014/main" id="{E059EA8C-473C-BB4D-A069-71A3EBE11648}"/>
              </a:ext>
            </a:extLst>
          </p:cNvPr>
          <p:cNvSpPr txBox="1">
            <a:spLocks/>
          </p:cNvSpPr>
          <p:nvPr/>
        </p:nvSpPr>
        <p:spPr>
          <a:xfrm>
            <a:off x="1524000" y="5147694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schemeClr val="dk1"/>
              </a:buClr>
              <a:buSzPts val="2400"/>
            </a:pPr>
            <a:endParaRPr lang="en-US" dirty="0"/>
          </a:p>
          <a:p>
            <a:pPr>
              <a:buClr>
                <a:schemeClr val="accent4"/>
              </a:buClr>
              <a:buSzPts val="2400"/>
            </a:pPr>
            <a:r>
              <a:rPr lang="en-US" dirty="0">
                <a:solidFill>
                  <a:schemeClr val="accent4"/>
                </a:solidFill>
              </a:rPr>
              <a:t>Software Engineering</a:t>
            </a:r>
            <a:endParaRPr lang="en-US" dirty="0"/>
          </a:p>
          <a:p>
            <a:pPr>
              <a:buClr>
                <a:schemeClr val="accent4"/>
              </a:buClr>
              <a:buSzPts val="2400"/>
            </a:pPr>
            <a:r>
              <a:rPr lang="en-US" dirty="0">
                <a:solidFill>
                  <a:schemeClr val="accent4"/>
                </a:solidFill>
              </a:rPr>
              <a:t>Faculty of Engineering</a:t>
            </a:r>
            <a:endParaRPr lang="en-US" dirty="0"/>
          </a:p>
          <a:p>
            <a:pPr>
              <a:buClr>
                <a:schemeClr val="accent2"/>
              </a:buClr>
              <a:buSzPts val="2400"/>
            </a:pPr>
            <a:r>
              <a:rPr lang="en-US" dirty="0">
                <a:solidFill>
                  <a:schemeClr val="accent2"/>
                </a:solidFill>
              </a:rPr>
              <a:t>Ben Gurion University of the Negev</a:t>
            </a:r>
            <a:endParaRPr lang="en-US" dirty="0"/>
          </a:p>
        </p:txBody>
      </p:sp>
      <p:sp>
        <p:nvSpPr>
          <p:cNvPr id="7" name="Google Shape;89;p1">
            <a:extLst>
              <a:ext uri="{FF2B5EF4-FFF2-40B4-BE49-F238E27FC236}">
                <a16:creationId xmlns:a16="http://schemas.microsoft.com/office/drawing/2014/main" id="{0C2453BE-9534-61BC-DBC3-804B6251EA15}"/>
              </a:ext>
            </a:extLst>
          </p:cNvPr>
          <p:cNvSpPr txBox="1">
            <a:spLocks/>
          </p:cNvSpPr>
          <p:nvPr/>
        </p:nvSpPr>
        <p:spPr>
          <a:xfrm>
            <a:off x="3048000" y="10633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n-US" sz="2800" dirty="0">
                <a:solidFill>
                  <a:srgbClr val="0070C0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053018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18CE6A-BF0B-181E-7B96-09B9E647E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856" y="-809353"/>
            <a:ext cx="8906469" cy="1719072"/>
          </a:xfrm>
        </p:spPr>
        <p:txBody>
          <a:bodyPr anchor="b">
            <a:normAutofit/>
          </a:bodyPr>
          <a:lstStyle/>
          <a:p>
            <a:r>
              <a:rPr lang="en-US" sz="3800" b="1" dirty="0"/>
              <a:t>The Motivation Through Example</a:t>
            </a:r>
            <a:endParaRPr lang="en-US" sz="3800" dirty="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2A91E-8F2A-A5FE-D02F-33491C7D9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727" y="2195735"/>
            <a:ext cx="6594153" cy="4424905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000" b="1" dirty="0"/>
              <a:t>A Growing Agricultural Threat</a:t>
            </a:r>
          </a:p>
        </p:txBody>
      </p:sp>
      <p:pic>
        <p:nvPicPr>
          <p:cNvPr id="5" name="Picture 4" descr="A close up of a bug&#10;&#10;AI-generated content may be incorrect.">
            <a:extLst>
              <a:ext uri="{FF2B5EF4-FFF2-40B4-BE49-F238E27FC236}">
                <a16:creationId xmlns:a16="http://schemas.microsoft.com/office/drawing/2014/main" id="{3153F9E5-5216-F308-A33A-595E2227CE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333" y="2758069"/>
            <a:ext cx="5335682" cy="356156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97DC929-F790-90B1-7F69-01CB6C14D9EC}"/>
              </a:ext>
            </a:extLst>
          </p:cNvPr>
          <p:cNvSpPr txBox="1"/>
          <p:nvPr/>
        </p:nvSpPr>
        <p:spPr>
          <a:xfrm>
            <a:off x="343856" y="1195852"/>
            <a:ext cx="73434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2"/>
                </a:solidFill>
              </a:rPr>
              <a:t>Protecting Israel’s Citrus Orchards</a:t>
            </a:r>
            <a:endParaRPr lang="en-US" sz="2800" dirty="0">
              <a:solidFill>
                <a:schemeClr val="accent2"/>
              </a:solidFill>
            </a:endParaRPr>
          </a:p>
        </p:txBody>
      </p:sp>
      <p:pic>
        <p:nvPicPr>
          <p:cNvPr id="8" name="Picture 7" descr="Detective Vector Art, Icons, and Graphics for Free Download">
            <a:extLst>
              <a:ext uri="{FF2B5EF4-FFF2-40B4-BE49-F238E27FC236}">
                <a16:creationId xmlns:a16="http://schemas.microsoft.com/office/drawing/2014/main" id="{86D94D5A-383C-B8AA-A13F-8013017B9A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6652261" y="3248953"/>
            <a:ext cx="1863652" cy="232493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8B61C69-4FB6-1587-11C1-4A227DCA71EB}"/>
              </a:ext>
            </a:extLst>
          </p:cNvPr>
          <p:cNvSpPr txBox="1"/>
          <p:nvPr/>
        </p:nvSpPr>
        <p:spPr>
          <a:xfrm>
            <a:off x="6441628" y="4411422"/>
            <a:ext cx="6097772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800" b="1" dirty="0"/>
              <a:t>The Key Question</a:t>
            </a:r>
            <a:endParaRPr lang="en-US" sz="1800" dirty="0"/>
          </a:p>
          <a:p>
            <a:r>
              <a:rPr lang="en-US" sz="1800" dirty="0"/>
              <a:t> </a:t>
            </a:r>
            <a:r>
              <a:rPr lang="en-US" sz="1800" b="1" dirty="0"/>
              <a:t>Where is </a:t>
            </a:r>
            <a:r>
              <a:rPr lang="en-US" sz="1800" b="1" i="1" dirty="0" err="1"/>
              <a:t>Tamarixia</a:t>
            </a:r>
            <a:r>
              <a:rPr lang="en-US" sz="1800" b="1" dirty="0"/>
              <a:t> located right now?</a:t>
            </a:r>
            <a:endParaRPr lang="he-IL" sz="1800" b="1" dirty="0"/>
          </a:p>
          <a:p>
            <a:r>
              <a:rPr lang="en-US" sz="1800" dirty="0"/>
              <a:t> </a:t>
            </a:r>
            <a:r>
              <a:rPr lang="en-US" sz="1800" b="1" dirty="0"/>
              <a:t>Can data help us act before the damage spreads?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950187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B50046-DB3C-9294-EF4D-08E347B05A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19505" b="2425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550D514-0C15-0D70-D0A3-E47166367F0C}"/>
              </a:ext>
            </a:extLst>
          </p:cNvPr>
          <p:cNvSpPr txBox="1"/>
          <p:nvPr/>
        </p:nvSpPr>
        <p:spPr>
          <a:xfrm rot="20786519">
            <a:off x="7818632" y="5504009"/>
            <a:ext cx="3312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SwipeLab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F88E70-95FB-2B5F-2B1E-7C61204640C7}"/>
              </a:ext>
            </a:extLst>
          </p:cNvPr>
          <p:cNvSpPr txBox="1"/>
          <p:nvPr/>
        </p:nvSpPr>
        <p:spPr>
          <a:xfrm rot="690177">
            <a:off x="1083023" y="5537518"/>
            <a:ext cx="3312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STARdbi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0984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A6BC0-F746-4A95-44FC-710028AAF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C2EB2-1286-3B1B-A8A2-3C0238CF3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STARdbi</a:t>
            </a:r>
            <a:r>
              <a:rPr lang="en-US" b="1" dirty="0"/>
              <a:t> – what is it?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CC7C3-7FE5-23CF-98F2-EC999C2EAB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76283"/>
            <a:ext cx="10515600" cy="4200679"/>
          </a:xfrm>
        </p:spPr>
        <p:txBody>
          <a:bodyPr/>
          <a:lstStyle/>
          <a:p>
            <a:r>
              <a:rPr lang="en-US" sz="2400" dirty="0" err="1"/>
              <a:t>STARdbi</a:t>
            </a:r>
            <a:r>
              <a:rPr lang="en-US" sz="2400" dirty="0"/>
              <a:t> is a large-scale database contains over 380,000 insect images and trap scans collected from 84 ecological sites. </a:t>
            </a:r>
          </a:p>
          <a:p>
            <a:r>
              <a:rPr lang="en-US" sz="2400" dirty="0"/>
              <a:t>This extensive dataset is a core component of the research led by our client: Associate Professor Chen </a:t>
            </a:r>
            <a:r>
              <a:rPr lang="en-US" sz="2400" dirty="0" err="1"/>
              <a:t>Keasar</a:t>
            </a:r>
            <a:r>
              <a:rPr lang="en-US" sz="2400" dirty="0"/>
              <a:t> at Ben-Gurion University of the Negev. </a:t>
            </a:r>
          </a:p>
          <a:p>
            <a:endParaRPr lang="en-US" dirty="0"/>
          </a:p>
        </p:txBody>
      </p:sp>
      <p:pic>
        <p:nvPicPr>
          <p:cNvPr id="4" name="Picture 2" descr="Chen Keasar">
            <a:extLst>
              <a:ext uri="{FF2B5EF4-FFF2-40B4-BE49-F238E27FC236}">
                <a16:creationId xmlns:a16="http://schemas.microsoft.com/office/drawing/2014/main" id="{07F5A53F-94B2-CDFB-854F-BED47E370F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729" y="4638954"/>
            <a:ext cx="1853921" cy="1853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957E5FBF-867F-2DE6-E116-6F775A132A9E}"/>
              </a:ext>
            </a:extLst>
          </p:cNvPr>
          <p:cNvGrpSpPr/>
          <p:nvPr/>
        </p:nvGrpSpPr>
        <p:grpSpPr>
          <a:xfrm>
            <a:off x="3960871" y="4442443"/>
            <a:ext cx="7697458" cy="2246941"/>
            <a:chOff x="-362697" y="1804641"/>
            <a:chExt cx="11635787" cy="3525744"/>
          </a:xfrm>
        </p:grpSpPr>
        <p:pic>
          <p:nvPicPr>
            <p:cNvPr id="6" name="Picture 2" descr="Research expert Vectors - Download Free High-Quality Vectors from Freepik |  Freepik">
              <a:extLst>
                <a:ext uri="{FF2B5EF4-FFF2-40B4-BE49-F238E27FC236}">
                  <a16:creationId xmlns:a16="http://schemas.microsoft.com/office/drawing/2014/main" id="{237B96D6-91E5-7846-8282-732A32380C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>
                          <a14:foregroundMark x1="70270" y1="40000" x2="69865" y2="15270"/>
                          <a14:foregroundMark x1="60405" y1="28514" x2="39189" y2="24730"/>
                          <a14:foregroundMark x1="39189" y1="24730" x2="48108" y2="22297"/>
                          <a14:foregroundMark x1="26351" y1="23784" x2="18243" y2="38243"/>
                          <a14:foregroundMark x1="18243" y1="38243" x2="33243" y2="29459"/>
                          <a14:foregroundMark x1="33243" y1="29459" x2="33514" y2="33378"/>
                          <a14:foregroundMark x1="25135" y1="33649" x2="15135" y2="28514"/>
                          <a14:foregroundMark x1="21486" y1="28108" x2="28919" y2="24865"/>
                          <a14:foregroundMark x1="31622" y1="45541" x2="23378" y2="59595"/>
                          <a14:foregroundMark x1="20000" y1="83108" x2="16892" y2="79054"/>
                          <a14:foregroundMark x1="81486" y1="83108" x2="80000" y2="72838"/>
                          <a14:foregroundMark x1="77297" y1="45811" x2="77297" y2="43243"/>
                          <a14:foregroundMark x1="74324" y1="48784" x2="82568" y2="52838"/>
                          <a14:foregroundMark x1="74324" y1="47027" x2="80405" y2="45135"/>
                          <a14:foregroundMark x1="78514" y1="45135" x2="78514" y2="43243"/>
                          <a14:foregroundMark x1="62297" y1="29595" x2="75811" y2="18108"/>
                          <a14:foregroundMark x1="75811" y1="18108" x2="72162" y2="27027"/>
                          <a14:foregroundMark x1="64595" y1="23378" x2="73243" y2="23784"/>
                          <a14:foregroundMark x1="75135" y1="22297" x2="77703" y2="21081"/>
                          <a14:foregroundMark x1="69459" y1="16757" x2="70270" y2="15676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482669" y="1804641"/>
              <a:ext cx="2833607" cy="28809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1E7F3E2-CD01-E3BC-FF56-EC4BE4785180}"/>
                </a:ext>
              </a:extLst>
            </p:cNvPr>
            <p:cNvGrpSpPr/>
            <p:nvPr/>
          </p:nvGrpSpPr>
          <p:grpSpPr>
            <a:xfrm>
              <a:off x="5219010" y="2224930"/>
              <a:ext cx="6054080" cy="3105455"/>
              <a:chOff x="5987212" y="177867"/>
              <a:chExt cx="6054080" cy="3105455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D1AF32BD-DD79-055C-C1FC-A13A01018B05}"/>
                  </a:ext>
                </a:extLst>
              </p:cNvPr>
              <p:cNvGrpSpPr/>
              <p:nvPr/>
            </p:nvGrpSpPr>
            <p:grpSpPr>
              <a:xfrm>
                <a:off x="8239759" y="177867"/>
                <a:ext cx="3801533" cy="3105455"/>
                <a:chOff x="6671733" y="340554"/>
                <a:chExt cx="3801533" cy="3105455"/>
              </a:xfrm>
            </p:grpSpPr>
            <p:pic>
              <p:nvPicPr>
                <p:cNvPr id="14" name="Picture 13">
                  <a:extLst>
                    <a:ext uri="{FF2B5EF4-FFF2-40B4-BE49-F238E27FC236}">
                      <a16:creationId xmlns:a16="http://schemas.microsoft.com/office/drawing/2014/main" id="{ABBAFDBC-EDE2-F173-6FAB-D190A606431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671733" y="340554"/>
                  <a:ext cx="3801533" cy="1373946"/>
                </a:xfrm>
                <a:prstGeom prst="roundRect">
                  <a:avLst>
                    <a:gd name="adj" fmla="val 8594"/>
                  </a:avLst>
                </a:prstGeom>
                <a:solidFill>
                  <a:srgbClr val="FFFFFF">
                    <a:shade val="85000"/>
                  </a:srgbClr>
                </a:solidFill>
                <a:ln>
                  <a:noFill/>
                </a:ln>
                <a:effectLst>
                  <a:reflection blurRad="12700" stA="38000" endPos="28000" dist="5000" dir="5400000" sy="-100000" algn="bl" rotWithShape="0"/>
                </a:effectLst>
              </p:spPr>
            </p:pic>
            <p:pic>
              <p:nvPicPr>
                <p:cNvPr id="15" name="Picture 14">
                  <a:extLst>
                    <a:ext uri="{FF2B5EF4-FFF2-40B4-BE49-F238E27FC236}">
                      <a16:creationId xmlns:a16="http://schemas.microsoft.com/office/drawing/2014/main" id="{951387D2-58B5-AF4C-E5A9-96E6BEB8FB7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671733" y="1537932"/>
                  <a:ext cx="3801533" cy="1908077"/>
                </a:xfrm>
                <a:prstGeom prst="roundRect">
                  <a:avLst>
                    <a:gd name="adj" fmla="val 8594"/>
                  </a:avLst>
                </a:prstGeom>
                <a:solidFill>
                  <a:srgbClr val="FFFFFF">
                    <a:shade val="85000"/>
                  </a:srgbClr>
                </a:solidFill>
                <a:ln>
                  <a:noFill/>
                </a:ln>
                <a:effectLst>
                  <a:reflection blurRad="12700" stA="38000" endPos="28000" dist="5000" dir="5400000" sy="-100000" algn="bl" rotWithShape="0"/>
                </a:effectLst>
              </p:spPr>
            </p:pic>
          </p:grpSp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6169F52B-2E71-189D-8CD2-48FC5DBA15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987212" y="709848"/>
                <a:ext cx="1323975" cy="1047751"/>
              </a:xfrm>
              <a:prstGeom prst="roundRect">
                <a:avLst>
                  <a:gd name="adj" fmla="val 8594"/>
                </a:avLst>
              </a:prstGeom>
              <a:solidFill>
                <a:srgbClr val="FFFFFF">
                  <a:shade val="85000"/>
                </a:srgbClr>
              </a:solidFill>
              <a:ln>
                <a:noFill/>
              </a:ln>
              <a:effectLst>
                <a:reflection blurRad="12700" stA="38000" endPos="28000" dist="5000" dir="5400000" sy="-100000" algn="bl" rotWithShape="0"/>
              </a:effectLst>
            </p:spPr>
          </p:pic>
          <p:cxnSp>
            <p:nvCxnSpPr>
              <p:cNvPr id="13" name="Connector: Elbow 12">
                <a:extLst>
                  <a:ext uri="{FF2B5EF4-FFF2-40B4-BE49-F238E27FC236}">
                    <a16:creationId xmlns:a16="http://schemas.microsoft.com/office/drawing/2014/main" id="{CF06CE5F-0FC6-C833-8B20-F16BFAD014CD}"/>
                  </a:ext>
                </a:extLst>
              </p:cNvPr>
              <p:cNvCxnSpPr/>
              <p:nvPr/>
            </p:nvCxnSpPr>
            <p:spPr>
              <a:xfrm rot="10800000">
                <a:off x="7121675" y="1198034"/>
                <a:ext cx="1903792" cy="846667"/>
              </a:xfrm>
              <a:prstGeom prst="bentConnector3">
                <a:avLst/>
              </a:prstGeom>
              <a:ln w="57150" cap="flat" cmpd="sng" algn="ctr">
                <a:solidFill>
                  <a:schemeClr val="accent2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pic>
          <p:nvPicPr>
            <p:cNvPr id="8" name="Picture 4" descr="Artificial intelligence on laptop screen. Cloud neural network, AI robot 3D  isometric vector illustration 24789839 Vector Art at Vecteezy">
              <a:extLst>
                <a:ext uri="{FF2B5EF4-FFF2-40B4-BE49-F238E27FC236}">
                  <a16:creationId xmlns:a16="http://schemas.microsoft.com/office/drawing/2014/main" id="{6D6BF1C5-D52E-B184-217F-01FDC1E128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251786" y="1941680"/>
              <a:ext cx="3243943" cy="2491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2D07844-25A4-DD85-6891-1325CF418A96}"/>
                </a:ext>
              </a:extLst>
            </p:cNvPr>
            <p:cNvSpPr txBox="1"/>
            <p:nvPr/>
          </p:nvSpPr>
          <p:spPr>
            <a:xfrm>
              <a:off x="2956233" y="4494493"/>
              <a:ext cx="2869512" cy="5312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Expert Researchers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78DD3D1-AB14-ACF4-224C-26CC52EE9171}"/>
                </a:ext>
              </a:extLst>
            </p:cNvPr>
            <p:cNvSpPr txBox="1"/>
            <p:nvPr/>
          </p:nvSpPr>
          <p:spPr>
            <a:xfrm>
              <a:off x="-362697" y="3799532"/>
              <a:ext cx="3022461" cy="5312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Classification Model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87258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311581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b="1"/>
              <a:t>The Problem: The "Labeling Bottleneck"</a:t>
            </a:r>
            <a:endParaRPr/>
          </a:p>
        </p:txBody>
      </p:sp>
      <p:sp>
        <p:nvSpPr>
          <p:cNvPr id="121" name="Google Shape;121;p5"/>
          <p:cNvSpPr txBox="1">
            <a:spLocks noGrp="1"/>
          </p:cNvSpPr>
          <p:nvPr>
            <p:ph type="body" idx="1"/>
          </p:nvPr>
        </p:nvSpPr>
        <p:spPr>
          <a:xfrm>
            <a:off x="473805" y="2071900"/>
            <a:ext cx="11718195" cy="3107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Arial" panose="020B0604020202020204" pitchFamily="34" charset="0"/>
              </a:rPr>
              <a:t>Scientific analysis and ML models require labeled images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Arial" panose="020B0604020202020204" pitchFamily="34" charset="0"/>
              </a:rPr>
              <a:t>Labeling requires manual classification which is a slow process and does not scale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Arial" panose="020B0604020202020204" pitchFamily="34" charset="0"/>
              </a:rPr>
              <a:t>As a result, large amounts of collected data remain unused</a:t>
            </a:r>
          </a:p>
        </p:txBody>
      </p:sp>
      <p:pic>
        <p:nvPicPr>
          <p:cNvPr id="122" name="Google Shape;122;p5"/>
          <p:cNvPicPr preferRelativeResize="0"/>
          <p:nvPr/>
        </p:nvPicPr>
        <p:blipFill rotWithShape="1">
          <a:blip r:embed="rId3">
            <a:alphaModFix/>
          </a:blip>
          <a:srcRect r="3" b="3"/>
          <a:stretch/>
        </p:blipFill>
        <p:spPr>
          <a:xfrm>
            <a:off x="8557396" y="3124634"/>
            <a:ext cx="2280062" cy="2280062"/>
          </a:xfrm>
          <a:custGeom>
            <a:avLst/>
            <a:gdLst/>
            <a:ahLst/>
            <a:cxnLst/>
            <a:rect l="l" t="t" r="r" b="b"/>
            <a:pathLst>
              <a:path w="2663168" h="2663168" extrusionOk="0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23" name="Google Shape;123;p5"/>
          <p:cNvSpPr/>
          <p:nvPr/>
        </p:nvSpPr>
        <p:spPr>
          <a:xfrm rot="10389197" flipH="1">
            <a:off x="6261882" y="687822"/>
            <a:ext cx="5471147" cy="5471147"/>
          </a:xfrm>
          <a:prstGeom prst="arc">
            <a:avLst>
              <a:gd name="adj1" fmla="val 16200000"/>
              <a:gd name="adj2" fmla="val 20093138"/>
            </a:avLst>
          </a:prstGeom>
          <a:noFill/>
          <a:ln w="127000" cap="rnd" cmpd="sng">
            <a:solidFill>
              <a:schemeClr val="accent4">
                <a:alpha val="94901"/>
              </a:schemeClr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10248561" y="921125"/>
            <a:ext cx="791021" cy="7695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E4E800-9596-DD8A-3145-E5FFADE450F4}"/>
              </a:ext>
            </a:extLst>
          </p:cNvPr>
          <p:cNvSpPr txBox="1"/>
          <p:nvPr/>
        </p:nvSpPr>
        <p:spPr>
          <a:xfrm>
            <a:off x="1907038" y="6254543"/>
            <a:ext cx="5783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Currently takes around 2-4 minutes for one label</a:t>
            </a:r>
          </a:p>
        </p:txBody>
      </p:sp>
      <p:pic>
        <p:nvPicPr>
          <p:cNvPr id="1026" name="Picture 2" descr="Time clock png Vectors - Download Free High-Quality Vectors ...">
            <a:extLst>
              <a:ext uri="{FF2B5EF4-FFF2-40B4-BE49-F238E27FC236}">
                <a16:creationId xmlns:a16="http://schemas.microsoft.com/office/drawing/2014/main" id="{4653D5A0-E5B3-DFDE-E182-EB7DFE95C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926739"/>
            <a:ext cx="897407" cy="897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7"/>
          <p:cNvSpPr txBox="1">
            <a:spLocks noGrp="1"/>
          </p:cNvSpPr>
          <p:nvPr>
            <p:ph type="body" idx="1"/>
          </p:nvPr>
        </p:nvSpPr>
        <p:spPr>
          <a:xfrm>
            <a:off x="480825" y="1825625"/>
            <a:ext cx="67020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064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Char char="●"/>
            </a:pPr>
            <a:r>
              <a:rPr lang="en-US" b="1" dirty="0"/>
              <a:t>Engaging Interface:</a:t>
            </a:r>
            <a:r>
              <a:rPr lang="en-US" dirty="0"/>
              <a:t> Utilizes a game-like, swipe-based interface.</a:t>
            </a:r>
            <a:endParaRPr dirty="0"/>
          </a:p>
          <a:p>
            <a:pPr marL="457200" indent="-406400">
              <a:lnSpc>
                <a:spcPct val="115000"/>
              </a:lnSpc>
              <a:spcBef>
                <a:spcPts val="0"/>
              </a:spcBef>
              <a:buSzPts val="2800"/>
              <a:buFont typeface="Arial" panose="020B0604020202020204" pitchFamily="34" charset="0"/>
              <a:buChar char="●"/>
            </a:pPr>
            <a:r>
              <a:rPr lang="en-US" b="1" dirty="0"/>
              <a:t>Accessibility:</a:t>
            </a:r>
            <a:r>
              <a:rPr lang="en-US" dirty="0"/>
              <a:t> Available on mobile and web platforms.</a:t>
            </a:r>
            <a:endParaRPr lang="he-IL" dirty="0"/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b="1" dirty="0"/>
              <a:t>Ease of Use:</a:t>
            </a:r>
            <a:r>
              <a:rPr lang="en-US" dirty="0"/>
              <a:t> Allows non-expert users to easily contribute.</a:t>
            </a:r>
          </a:p>
        </p:txBody>
      </p:sp>
      <p:pic>
        <p:nvPicPr>
          <p:cNvPr id="147" name="Google Shape;147;p7"/>
          <p:cNvPicPr preferRelativeResize="0"/>
          <p:nvPr/>
        </p:nvPicPr>
        <p:blipFill rotWithShape="1">
          <a:blip r:embed="rId3">
            <a:alphaModFix/>
          </a:blip>
          <a:srcRect r="3" b="3"/>
          <a:stretch/>
        </p:blipFill>
        <p:spPr>
          <a:xfrm>
            <a:off x="7182663" y="1690688"/>
            <a:ext cx="4058234" cy="4058234"/>
          </a:xfrm>
          <a:custGeom>
            <a:avLst/>
            <a:gdLst/>
            <a:ahLst/>
            <a:cxnLst/>
            <a:rect l="l" t="t" r="r" b="b"/>
            <a:pathLst>
              <a:path w="2663168" h="2663168" extrusionOk="0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48" name="Google Shape;148;p7"/>
          <p:cNvSpPr/>
          <p:nvPr/>
        </p:nvSpPr>
        <p:spPr>
          <a:xfrm rot="10389197" flipH="1">
            <a:off x="6261882" y="687822"/>
            <a:ext cx="5471147" cy="5471147"/>
          </a:xfrm>
          <a:prstGeom prst="arc">
            <a:avLst>
              <a:gd name="adj1" fmla="val 16200000"/>
              <a:gd name="adj2" fmla="val 20093138"/>
            </a:avLst>
          </a:prstGeom>
          <a:noFill/>
          <a:ln w="127000" cap="rnd" cmpd="sng">
            <a:solidFill>
              <a:schemeClr val="accent4">
                <a:alpha val="94901"/>
              </a:schemeClr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10248561" y="921125"/>
            <a:ext cx="791021" cy="7695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56;p8">
            <a:extLst>
              <a:ext uri="{FF2B5EF4-FFF2-40B4-BE49-F238E27FC236}">
                <a16:creationId xmlns:a16="http://schemas.microsoft.com/office/drawing/2014/main" id="{A4582D79-FDD4-749F-648A-9C5F30558B9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9130259" cy="13255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4100"/>
              <a:buFont typeface="Play"/>
              <a:buNone/>
            </a:pPr>
            <a:r>
              <a:rPr lang="en-US" sz="4100" b="1" dirty="0"/>
              <a:t>Requirements of SwipeLab</a:t>
            </a:r>
            <a:endParaRPr lang="en-US" sz="4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D9691-8DDF-69A6-88DB-2A2AF977E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1710" y="465380"/>
            <a:ext cx="10515600" cy="1192181"/>
          </a:xfrm>
        </p:spPr>
        <p:txBody>
          <a:bodyPr>
            <a:normAutofit/>
          </a:bodyPr>
          <a:lstStyle/>
          <a:p>
            <a:r>
              <a:rPr lang="en-US" sz="4000" b="1" dirty="0"/>
              <a:t>The Solution: Gamified Citizen Science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D6D34-E437-0730-B5E1-F2C2BE369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6737" y="2498570"/>
            <a:ext cx="8705263" cy="23666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"</a:t>
            </a:r>
            <a:r>
              <a:rPr lang="en-US" sz="2400" dirty="0"/>
              <a:t>SwipeLab</a:t>
            </a:r>
            <a:r>
              <a:rPr lang="en-US" sz="2400" b="1" dirty="0"/>
              <a:t>"</a:t>
            </a:r>
            <a:r>
              <a:rPr lang="en-US" sz="2400" dirty="0"/>
              <a:t> solves this problem </a:t>
            </a:r>
          </a:p>
          <a:p>
            <a:pPr marL="0" indent="0">
              <a:buNone/>
            </a:pPr>
            <a:r>
              <a:rPr lang="en-US" sz="2400" dirty="0"/>
              <a:t>by transforming complex scientific classification </a:t>
            </a:r>
          </a:p>
          <a:p>
            <a:pPr marL="0" indent="0">
              <a:buNone/>
            </a:pPr>
            <a:r>
              <a:rPr lang="en-US" sz="2400" dirty="0"/>
              <a:t>into a simple, "Tinder-like" mobile experience for volunteers. </a:t>
            </a:r>
          </a:p>
          <a:p>
            <a:endParaRPr lang="en-US" sz="2400" dirty="0"/>
          </a:p>
        </p:txBody>
      </p:sp>
      <p:pic>
        <p:nvPicPr>
          <p:cNvPr id="32" name="Picture 2">
            <a:extLst>
              <a:ext uri="{FF2B5EF4-FFF2-40B4-BE49-F238E27FC236}">
                <a16:creationId xmlns:a16="http://schemas.microsoft.com/office/drawing/2014/main" id="{7E6CBAED-C3E1-B35D-55A6-7C123A0919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919" b="90901" l="10000" r="90000">
                        <a14:foregroundMark x1="24730" y1="10270" x2="63919" y2="9009"/>
                        <a14:foregroundMark x1="63919" y1="9009" x2="75676" y2="10090"/>
                        <a14:foregroundMark x1="24324" y1="89640" x2="67703" y2="90901"/>
                        <a14:foregroundMark x1="67703" y1="90901" x2="25946" y2="9009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49631" y="186694"/>
            <a:ext cx="457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B44E351E-445C-E5B6-72C5-D8C5D20AFEE3}"/>
              </a:ext>
            </a:extLst>
          </p:cNvPr>
          <p:cNvSpPr/>
          <p:nvPr/>
        </p:nvSpPr>
        <p:spPr>
          <a:xfrm>
            <a:off x="492785" y="1212537"/>
            <a:ext cx="2511552" cy="4884611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75E90EFD-0F3E-4FB4-15D1-4AC5C8DD0D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060" y="1860809"/>
            <a:ext cx="2415477" cy="362145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076D0A0A-2764-3929-9D80-2D4438CA7149}"/>
              </a:ext>
            </a:extLst>
          </p:cNvPr>
          <p:cNvSpPr/>
          <p:nvPr/>
        </p:nvSpPr>
        <p:spPr>
          <a:xfrm>
            <a:off x="1052100" y="4384502"/>
            <a:ext cx="1325607" cy="19686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13D55A4-ABEC-6E16-4272-63F28A049A09}"/>
              </a:ext>
            </a:extLst>
          </p:cNvPr>
          <p:cNvSpPr/>
          <p:nvPr/>
        </p:nvSpPr>
        <p:spPr>
          <a:xfrm>
            <a:off x="780313" y="2456121"/>
            <a:ext cx="1930400" cy="189001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90FC11F2-AA13-7930-E7BC-59E56E6C282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5491" b="89684" l="5787" r="89848">
                        <a14:foregroundMark x1="11066" y1="7488" x2="11066" y2="7488"/>
                        <a14:foregroundMark x1="10051" y1="18303" x2="10051" y2="18303"/>
                        <a14:foregroundMark x1="5787" y1="14642" x2="5787" y2="14642"/>
                        <a14:foregroundMark x1="9543" y1="5491" x2="9543" y2="5491"/>
                        <a14:backgroundMark x1="47208" y1="71048" x2="50457" y2="90682"/>
                        <a14:backgroundMark x1="80508" y1="73710" x2="88528" y2="82196"/>
                        <a14:backgroundMark x1="74721" y1="76373" x2="77462" y2="68386"/>
                        <a14:backgroundMark x1="77462" y1="68386" x2="82132" y2="7554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55936" y="3033527"/>
            <a:ext cx="1115603" cy="680688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2B8312A0-0667-D538-50A4-CE75FBA41A9D}"/>
              </a:ext>
            </a:extLst>
          </p:cNvPr>
          <p:cNvSpPr txBox="1"/>
          <p:nvPr/>
        </p:nvSpPr>
        <p:spPr>
          <a:xfrm>
            <a:off x="492785" y="1939152"/>
            <a:ext cx="32766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Is this </a:t>
            </a:r>
            <a:r>
              <a:rPr lang="en-US" b="1" dirty="0" err="1"/>
              <a:t>Thaumastocoris</a:t>
            </a:r>
            <a:r>
              <a:rPr lang="en-US" sz="1600" dirty="0"/>
              <a:t>?</a:t>
            </a:r>
          </a:p>
          <a:p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sz="1000" dirty="0"/>
              <a:t>                   </a:t>
            </a:r>
          </a:p>
        </p:txBody>
      </p:sp>
      <p:pic>
        <p:nvPicPr>
          <p:cNvPr id="39" name="Picture 6" descr="Cross &amp; check mark icons. X and V symbols. Icon SET. Stock Vector | Adobe  Stock">
            <a:extLst>
              <a:ext uri="{FF2B5EF4-FFF2-40B4-BE49-F238E27FC236}">
                <a16:creationId xmlns:a16="http://schemas.microsoft.com/office/drawing/2014/main" id="{03D8567C-46D5-5776-7C06-9D9D7CCF8A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>
                        <a14:foregroundMark x1="79400" y1="47681" x2="79400" y2="47681"/>
                        <a14:foregroundMark x1="87300" y1="38404" x2="87300" y2="384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2" y="4688337"/>
            <a:ext cx="1291914" cy="696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7364BB91-6A4E-69C5-5FA8-EED69BA19561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440983" y="4753615"/>
            <a:ext cx="194712" cy="291084"/>
          </a:xfrm>
          <a:prstGeom prst="rect">
            <a:avLst/>
          </a:prstGeom>
        </p:spPr>
      </p:pic>
      <p:pic>
        <p:nvPicPr>
          <p:cNvPr id="41" name="Picture 10" descr="Red Trash Can Icon SVG Vector &amp; PNG Free Download | UXWing">
            <a:extLst>
              <a:ext uri="{FF2B5EF4-FFF2-40B4-BE49-F238E27FC236}">
                <a16:creationId xmlns:a16="http://schemas.microsoft.com/office/drawing/2014/main" id="{F61EFD86-83E2-2102-49D5-2CD0CF0C7A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2101" b="97899" l="3302" r="95755">
                        <a14:foregroundMark x1="46226" y1="15546" x2="46226" y2="15546"/>
                        <a14:foregroundMark x1="46226" y1="15546" x2="82547" y2="17647"/>
                        <a14:foregroundMark x1="56132" y1="13025" x2="68868" y2="11765"/>
                        <a14:foregroundMark x1="9906" y1="14286" x2="71226" y2="12185"/>
                        <a14:foregroundMark x1="71226" y1="12185" x2="46698" y2="18908"/>
                        <a14:foregroundMark x1="46698" y1="18908" x2="3302" y2="16387"/>
                        <a14:foregroundMark x1="37736" y1="13866" x2="62736" y2="10504"/>
                        <a14:foregroundMark x1="62736" y1="10504" x2="62736" y2="11765"/>
                        <a14:foregroundMark x1="63679" y1="11765" x2="51415" y2="5462"/>
                        <a14:foregroundMark x1="51415" y1="12185" x2="43868" y2="2941"/>
                        <a14:foregroundMark x1="83019" y1="16387" x2="96226" y2="16387"/>
                        <a14:foregroundMark x1="68868" y1="91176" x2="28302" y2="91176"/>
                        <a14:foregroundMark x1="82547" y1="97899" x2="25000" y2="9705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823" y="4765299"/>
            <a:ext cx="240852" cy="270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3CFBCA9B-0EDA-5E9C-6B93-BE4F287630A0}"/>
              </a:ext>
            </a:extLst>
          </p:cNvPr>
          <p:cNvSpPr/>
          <p:nvPr/>
        </p:nvSpPr>
        <p:spPr>
          <a:xfrm>
            <a:off x="1085632" y="1199178"/>
            <a:ext cx="1325607" cy="606751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A8282D6-1670-57F5-DA27-CEDB1CD4777B}"/>
              </a:ext>
            </a:extLst>
          </p:cNvPr>
          <p:cNvSpPr txBox="1"/>
          <p:nvPr/>
        </p:nvSpPr>
        <p:spPr>
          <a:xfrm>
            <a:off x="1080675" y="1204874"/>
            <a:ext cx="132560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Score: </a:t>
            </a:r>
            <a:r>
              <a:rPr lang="en-US" sz="1400" b="1" dirty="0">
                <a:solidFill>
                  <a:schemeClr val="bg1"/>
                </a:solidFill>
              </a:rPr>
              <a:t>7,542</a:t>
            </a:r>
          </a:p>
          <a:p>
            <a:pPr algn="ctr"/>
            <a:r>
              <a:rPr lang="en-US" sz="1200" b="1" dirty="0">
                <a:solidFill>
                  <a:schemeClr val="bg1"/>
                </a:solidFill>
              </a:rPr>
              <a:t>Rank: Expert</a:t>
            </a:r>
          </a:p>
          <a:p>
            <a:pPr algn="ctr"/>
            <a:r>
              <a:rPr lang="en-US" sz="1200" b="1" dirty="0">
                <a:solidFill>
                  <a:schemeClr val="bg1"/>
                </a:solidFill>
              </a:rPr>
              <a:t>3 days streak</a:t>
            </a:r>
          </a:p>
        </p:txBody>
      </p:sp>
      <p:pic>
        <p:nvPicPr>
          <p:cNvPr id="44" name="Picture 12" descr="Leaderboard - Free icons">
            <a:extLst>
              <a:ext uri="{FF2B5EF4-FFF2-40B4-BE49-F238E27FC236}">
                <a16:creationId xmlns:a16="http://schemas.microsoft.com/office/drawing/2014/main" id="{C1BC68C2-AA28-C741-CC1D-5E9355171E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3561" y="5613688"/>
            <a:ext cx="300754" cy="306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14" descr="Task - Free shapes and symbols icons">
            <a:extLst>
              <a:ext uri="{FF2B5EF4-FFF2-40B4-BE49-F238E27FC236}">
                <a16:creationId xmlns:a16="http://schemas.microsoft.com/office/drawing/2014/main" id="{25F684F9-2EBA-2249-77BC-C804B9C19C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2483" y="5588015"/>
            <a:ext cx="364396" cy="364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16" descr="Profile - Free people icons">
            <a:extLst>
              <a:ext uri="{FF2B5EF4-FFF2-40B4-BE49-F238E27FC236}">
                <a16:creationId xmlns:a16="http://schemas.microsoft.com/office/drawing/2014/main" id="{C52296DC-9F7E-4A71-7150-C793CE5CA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549" y="1185676"/>
            <a:ext cx="393700" cy="39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46" descr="Logout icon - Free download on Iconfinder">
            <a:hlinkClick r:id="rId16" action="ppaction://hlinksldjump"/>
            <a:extLst>
              <a:ext uri="{FF2B5EF4-FFF2-40B4-BE49-F238E27FC236}">
                <a16:creationId xmlns:a16="http://schemas.microsoft.com/office/drawing/2014/main" id="{2D19ACEC-DBC4-9113-31B7-EE0A7F4396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1308" y="1228489"/>
            <a:ext cx="337045" cy="337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FAFD71BC-E800-0E3C-C816-3F126072B163}"/>
              </a:ext>
            </a:extLst>
          </p:cNvPr>
          <p:cNvSpPr txBox="1"/>
          <p:nvPr/>
        </p:nvSpPr>
        <p:spPr>
          <a:xfrm>
            <a:off x="423907" y="1565542"/>
            <a:ext cx="25931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50000"/>
                  </a:schemeClr>
                </a:solidFill>
              </a:rPr>
              <a:t>User123                                                   Logout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2CDB2FC-69C2-3548-1B52-60BAA16EF289}"/>
              </a:ext>
            </a:extLst>
          </p:cNvPr>
          <p:cNvSpPr txBox="1"/>
          <p:nvPr/>
        </p:nvSpPr>
        <p:spPr>
          <a:xfrm>
            <a:off x="454450" y="5910506"/>
            <a:ext cx="3276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50000"/>
                  </a:schemeClr>
                </a:solidFill>
              </a:rPr>
              <a:t>Settings   My Tasks  Leaderboard   Stats</a:t>
            </a:r>
          </a:p>
        </p:txBody>
      </p:sp>
      <p:pic>
        <p:nvPicPr>
          <p:cNvPr id="50" name="Picture 24" descr="Bold Settings Icon transparent PNG - StickPNG">
            <a:extLst>
              <a:ext uri="{FF2B5EF4-FFF2-40B4-BE49-F238E27FC236}">
                <a16:creationId xmlns:a16="http://schemas.microsoft.com/office/drawing/2014/main" id="{F21934CC-E602-01B0-61D5-63FB11FBA8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913" y="5643053"/>
            <a:ext cx="273151" cy="273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26" descr="Statistics - Free business icons">
            <a:extLst>
              <a:ext uri="{FF2B5EF4-FFF2-40B4-BE49-F238E27FC236}">
                <a16:creationId xmlns:a16="http://schemas.microsoft.com/office/drawing/2014/main" id="{A1FD6204-E511-8AD9-41FE-F0FBF96673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6437" y="5637449"/>
            <a:ext cx="261611" cy="261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28" descr="References PNG Images, References Transparent Background PNG">
            <a:extLst>
              <a:ext uri="{FF2B5EF4-FFF2-40B4-BE49-F238E27FC236}">
                <a16:creationId xmlns:a16="http://schemas.microsoft.com/office/drawing/2014/main" id="{C4AE796A-2487-01BF-8B65-1874D0436B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5689" b="91018" l="9355" r="90323">
                        <a14:foregroundMark x1="9677" y1="29940" x2="9677" y2="32934"/>
                        <a14:foregroundMark x1="30968" y1="11377" x2="32258" y2="9281"/>
                        <a14:foregroundMark x1="38710" y1="7186" x2="34839" y2="5988"/>
                        <a14:foregroundMark x1="72581" y1="75150" x2="61613" y2="85329"/>
                        <a14:foregroundMark x1="43548" y1="90120" x2="20645" y2="91018"/>
                        <a14:foregroundMark x1="20645" y1="91018" x2="15806" y2="89521"/>
                        <a14:foregroundMark x1="88710" y1="73054" x2="90323" y2="7754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1130" y="4400354"/>
            <a:ext cx="141484" cy="152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TextBox 52">
            <a:hlinkClick r:id="rId22" action="ppaction://hlinksldjump"/>
            <a:extLst>
              <a:ext uri="{FF2B5EF4-FFF2-40B4-BE49-F238E27FC236}">
                <a16:creationId xmlns:a16="http://schemas.microsoft.com/office/drawing/2014/main" id="{2C075E1C-84A9-2678-D3D9-F85858E7FBC1}"/>
              </a:ext>
            </a:extLst>
          </p:cNvPr>
          <p:cNvSpPr txBox="1"/>
          <p:nvPr/>
        </p:nvSpPr>
        <p:spPr>
          <a:xfrm>
            <a:off x="1024156" y="4361919"/>
            <a:ext cx="127545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Reference Photos</a:t>
            </a:r>
            <a:endParaRPr lang="en-US" sz="1050" dirty="0"/>
          </a:p>
        </p:txBody>
      </p:sp>
      <p:pic>
        <p:nvPicPr>
          <p:cNvPr id="54" name="Picture 53" descr="A hand pointing to a match&#10;&#10;AI-generated content may be incorrect.">
            <a:extLst>
              <a:ext uri="{FF2B5EF4-FFF2-40B4-BE49-F238E27FC236}">
                <a16:creationId xmlns:a16="http://schemas.microsoft.com/office/drawing/2014/main" id="{A45D0FAF-10F9-48D2-8DDD-B308841B5FFB}"/>
              </a:ext>
            </a:extLst>
          </p:cNvPr>
          <p:cNvPicPr>
            <a:picLocks noChangeAspect="1"/>
          </p:cNvPicPr>
          <p:nvPr/>
        </p:nvPicPr>
        <p:blipFill>
          <a:blip r:embed="rId2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935" y="2453995"/>
            <a:ext cx="1922778" cy="1922778"/>
          </a:xfrm>
          <a:prstGeom prst="rect">
            <a:avLst/>
          </a:prstGeom>
        </p:spPr>
      </p:pic>
      <p:pic>
        <p:nvPicPr>
          <p:cNvPr id="55" name="Picture 54" descr="A hand pointing to a right&#10;&#10;AI-generated content may be incorrect.">
            <a:extLst>
              <a:ext uri="{FF2B5EF4-FFF2-40B4-BE49-F238E27FC236}">
                <a16:creationId xmlns:a16="http://schemas.microsoft.com/office/drawing/2014/main" id="{A04752DC-7B70-618E-94FF-8C9142118DF2}"/>
              </a:ext>
            </a:extLst>
          </p:cNvPr>
          <p:cNvPicPr>
            <a:picLocks noChangeAspect="1"/>
          </p:cNvPicPr>
          <p:nvPr/>
        </p:nvPicPr>
        <p:blipFill>
          <a:blip r:embed="rId2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873" y="2455417"/>
            <a:ext cx="1922778" cy="1922778"/>
          </a:xfrm>
          <a:prstGeom prst="rect">
            <a:avLst/>
          </a:prstGeom>
        </p:spPr>
      </p:pic>
      <p:sp>
        <p:nvSpPr>
          <p:cNvPr id="56" name="TextBox 55">
            <a:hlinkClick r:id="rId25" action="ppaction://hlinksldjump"/>
            <a:extLst>
              <a:ext uri="{FF2B5EF4-FFF2-40B4-BE49-F238E27FC236}">
                <a16:creationId xmlns:a16="http://schemas.microsoft.com/office/drawing/2014/main" id="{AEE79F9F-4738-2528-4555-DEBC9E0320A8}"/>
              </a:ext>
            </a:extLst>
          </p:cNvPr>
          <p:cNvSpPr txBox="1"/>
          <p:nvPr/>
        </p:nvSpPr>
        <p:spPr>
          <a:xfrm>
            <a:off x="1055942" y="5589437"/>
            <a:ext cx="643924" cy="6962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7" name="TextBox 56">
            <a:hlinkClick r:id="rId26" action="ppaction://hlinksldjump"/>
            <a:extLst>
              <a:ext uri="{FF2B5EF4-FFF2-40B4-BE49-F238E27FC236}">
                <a16:creationId xmlns:a16="http://schemas.microsoft.com/office/drawing/2014/main" id="{B345C62F-7475-4911-CCA5-698613D9FDB9}"/>
              </a:ext>
            </a:extLst>
          </p:cNvPr>
          <p:cNvSpPr txBox="1"/>
          <p:nvPr/>
        </p:nvSpPr>
        <p:spPr>
          <a:xfrm>
            <a:off x="1674447" y="5568085"/>
            <a:ext cx="854189" cy="6962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8" name="TextBox 57">
            <a:hlinkClick r:id="rId27" action="ppaction://hlinksldjump"/>
            <a:extLst>
              <a:ext uri="{FF2B5EF4-FFF2-40B4-BE49-F238E27FC236}">
                <a16:creationId xmlns:a16="http://schemas.microsoft.com/office/drawing/2014/main" id="{03283E2D-BDFC-5E8B-7924-B02469941546}"/>
              </a:ext>
            </a:extLst>
          </p:cNvPr>
          <p:cNvSpPr txBox="1"/>
          <p:nvPr/>
        </p:nvSpPr>
        <p:spPr>
          <a:xfrm>
            <a:off x="485170" y="5575321"/>
            <a:ext cx="643924" cy="6962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9" name="TextBox 58">
            <a:hlinkClick r:id="rId28" action="ppaction://hlinksldjump"/>
            <a:extLst>
              <a:ext uri="{FF2B5EF4-FFF2-40B4-BE49-F238E27FC236}">
                <a16:creationId xmlns:a16="http://schemas.microsoft.com/office/drawing/2014/main" id="{B4335086-AFBA-961F-21AE-6A2C4ACE4082}"/>
              </a:ext>
            </a:extLst>
          </p:cNvPr>
          <p:cNvSpPr txBox="1"/>
          <p:nvPr/>
        </p:nvSpPr>
        <p:spPr>
          <a:xfrm>
            <a:off x="2515439" y="5544393"/>
            <a:ext cx="488898" cy="6962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0" name="TextBox 59">
            <a:hlinkClick r:id="rId29" action="ppaction://hlinksldjump"/>
            <a:extLst>
              <a:ext uri="{FF2B5EF4-FFF2-40B4-BE49-F238E27FC236}">
                <a16:creationId xmlns:a16="http://schemas.microsoft.com/office/drawing/2014/main" id="{0F9DFA16-0779-A4DF-CB61-BCBB5EF09E63}"/>
              </a:ext>
            </a:extLst>
          </p:cNvPr>
          <p:cNvSpPr txBox="1"/>
          <p:nvPr/>
        </p:nvSpPr>
        <p:spPr>
          <a:xfrm>
            <a:off x="1094443" y="1208817"/>
            <a:ext cx="1350340" cy="618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BF9D91-3093-8EF4-CD65-D642A1619066}"/>
              </a:ext>
            </a:extLst>
          </p:cNvPr>
          <p:cNvSpPr txBox="1"/>
          <p:nvPr/>
        </p:nvSpPr>
        <p:spPr>
          <a:xfrm>
            <a:off x="4704735" y="5899060"/>
            <a:ext cx="1324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Researcher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5A9404-EAB3-2986-D226-6E34744B9331}"/>
              </a:ext>
            </a:extLst>
          </p:cNvPr>
          <p:cNvSpPr txBox="1"/>
          <p:nvPr/>
        </p:nvSpPr>
        <p:spPr>
          <a:xfrm>
            <a:off x="9263939" y="5821038"/>
            <a:ext cx="936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Labeler</a:t>
            </a:r>
          </a:p>
        </p:txBody>
      </p:sp>
      <p:pic>
        <p:nvPicPr>
          <p:cNvPr id="6" name="Picture 5" descr="illustration of Researcher 62856860 Vector Art at Vecteezy">
            <a:extLst>
              <a:ext uri="{FF2B5EF4-FFF2-40B4-BE49-F238E27FC236}">
                <a16:creationId xmlns:a16="http://schemas.microsoft.com/office/drawing/2014/main" id="{CB6B6C66-F1C7-CF6D-E3FB-AB1BA5719EEF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567722" y="4268360"/>
            <a:ext cx="1552678" cy="1552678"/>
          </a:xfrm>
          <a:prstGeom prst="rect">
            <a:avLst/>
          </a:prstGeom>
        </p:spPr>
      </p:pic>
      <p:pic>
        <p:nvPicPr>
          <p:cNvPr id="7" name="Picture 6" descr="Phone User Vector Art, Icons, and Graphics for Free Download">
            <a:extLst>
              <a:ext uri="{FF2B5EF4-FFF2-40B4-BE49-F238E27FC236}">
                <a16:creationId xmlns:a16="http://schemas.microsoft.com/office/drawing/2014/main" id="{01BB9702-2848-519E-8EBE-4349E91D2151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448502" y="4384502"/>
            <a:ext cx="764325" cy="1337569"/>
          </a:xfrm>
          <a:prstGeom prst="rect">
            <a:avLst/>
          </a:prstGeom>
        </p:spPr>
      </p:pic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8747B738-817A-7A30-DF02-78D37D43891E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6120400" y="4476573"/>
            <a:ext cx="3128791" cy="568126"/>
          </a:xfrm>
          <a:prstGeom prst="curvedConnector3">
            <a:avLst>
              <a:gd name="adj1" fmla="val 58485"/>
            </a:avLst>
          </a:prstGeom>
          <a:ln w="7620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4BDC209-AA9B-B39F-40E0-8C2384349A92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/>
        </p:blipFill>
        <p:spPr>
          <a:xfrm>
            <a:off x="6962060" y="4143087"/>
            <a:ext cx="13335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924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500"/>
                            </p:stCondLst>
                            <p:childTnLst>
                              <p:par>
                                <p:cTn id="17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4"/>
          <p:cNvSpPr txBox="1">
            <a:spLocks noGrp="1"/>
          </p:cNvSpPr>
          <p:nvPr>
            <p:ph type="title"/>
          </p:nvPr>
        </p:nvSpPr>
        <p:spPr>
          <a:xfrm>
            <a:off x="838199" y="365125"/>
            <a:ext cx="11516833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b="1" dirty="0"/>
              <a:t>The Researcher Side: From Labels to Insights</a:t>
            </a:r>
            <a:endParaRPr dirty="0"/>
          </a:p>
        </p:txBody>
      </p:sp>
      <p:sp>
        <p:nvSpPr>
          <p:cNvPr id="246" name="Google Shape;246;p14"/>
          <p:cNvSpPr txBox="1">
            <a:spLocks noGrp="1"/>
          </p:cNvSpPr>
          <p:nvPr>
            <p:ph type="body" idx="1"/>
          </p:nvPr>
        </p:nvSpPr>
        <p:spPr>
          <a:xfrm>
            <a:off x="838199" y="1825625"/>
            <a:ext cx="10945761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Through the </a:t>
            </a:r>
            <a:r>
              <a:rPr lang="en-US" b="1" dirty="0"/>
              <a:t>Researcher Dashboard</a:t>
            </a:r>
            <a:r>
              <a:rPr lang="en-US" dirty="0"/>
              <a:t>, scientists can easily: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 </a:t>
            </a:r>
            <a:endParaRPr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+mj-lt"/>
              </a:rPr>
              <a:t>Create labeling tasks</a:t>
            </a:r>
            <a:endParaRPr lang="en-US" altLang="en-US" dirty="0">
              <a:latin typeface="+mj-lt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+mj-lt"/>
              </a:rPr>
              <a:t>Monitor progress</a:t>
            </a:r>
            <a:endParaRPr lang="en-US" altLang="en-US" dirty="0">
              <a:latin typeface="+mj-lt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+mj-lt"/>
              </a:rPr>
              <a:t>Ensure data labeling quality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+mj-lt"/>
              </a:rPr>
              <a:t>Export labeled data</a:t>
            </a:r>
            <a:endParaRPr lang="en-US" altLang="en-US" dirty="0">
              <a:latin typeface="+mj-lt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pic>
        <p:nvPicPr>
          <p:cNvPr id="5" name="Picture 2" descr="Laptop Mockup PNGs for Free Download">
            <a:extLst>
              <a:ext uri="{FF2B5EF4-FFF2-40B4-BE49-F238E27FC236}">
                <a16:creationId xmlns:a16="http://schemas.microsoft.com/office/drawing/2014/main" id="{8251C1A6-6FAE-6027-2542-0A529EE5CB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3778" y="2463301"/>
            <a:ext cx="6280182" cy="4170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D0C4919-43C8-9CA1-3BE8-1D54F3C3B2D5}"/>
              </a:ext>
            </a:extLst>
          </p:cNvPr>
          <p:cNvSpPr/>
          <p:nvPr/>
        </p:nvSpPr>
        <p:spPr>
          <a:xfrm>
            <a:off x="8044883" y="3118855"/>
            <a:ext cx="1248476" cy="389391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hlinkClick r:id="rId4" action="ppaction://hlinksldjump"/>
            <a:extLst>
              <a:ext uri="{FF2B5EF4-FFF2-40B4-BE49-F238E27FC236}">
                <a16:creationId xmlns:a16="http://schemas.microsoft.com/office/drawing/2014/main" id="{A07AB73A-0F1B-17D7-5EE6-2D6F1C679BC8}"/>
              </a:ext>
            </a:extLst>
          </p:cNvPr>
          <p:cNvSpPr txBox="1"/>
          <p:nvPr/>
        </p:nvSpPr>
        <p:spPr>
          <a:xfrm>
            <a:off x="8367947" y="3092468"/>
            <a:ext cx="925412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Manager</a:t>
            </a:r>
            <a:endParaRPr lang="en-US" sz="1100" b="1" dirty="0">
              <a:solidFill>
                <a:schemeClr val="bg1"/>
              </a:solidFill>
            </a:endParaRPr>
          </a:p>
          <a:p>
            <a:pPr algn="ctr"/>
            <a:endParaRPr lang="en-US" sz="700" b="1" dirty="0">
              <a:solidFill>
                <a:schemeClr val="bg1"/>
              </a:solidFill>
            </a:endParaRPr>
          </a:p>
          <a:p>
            <a:pPr algn="ctr"/>
            <a:r>
              <a:rPr lang="en-US" sz="600" b="1" dirty="0">
                <a:solidFill>
                  <a:schemeClr val="bg1"/>
                </a:solidFill>
              </a:rPr>
              <a:t>Switch to play</a:t>
            </a:r>
          </a:p>
        </p:txBody>
      </p:sp>
      <p:pic>
        <p:nvPicPr>
          <p:cNvPr id="8" name="Picture 7" descr="Leaderboard - Free icons">
            <a:extLst>
              <a:ext uri="{FF2B5EF4-FFF2-40B4-BE49-F238E27FC236}">
                <a16:creationId xmlns:a16="http://schemas.microsoft.com/office/drawing/2014/main" id="{AB56F6AD-6D7E-1350-51B0-FC33F57898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8354" y="5152784"/>
            <a:ext cx="211106" cy="215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6" descr="Profile - Free people icons">
            <a:extLst>
              <a:ext uri="{FF2B5EF4-FFF2-40B4-BE49-F238E27FC236}">
                <a16:creationId xmlns:a16="http://schemas.microsoft.com/office/drawing/2014/main" id="{C00CFAAB-1314-0ECB-05B8-8298BD0088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3442" y="3109378"/>
            <a:ext cx="276347" cy="276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Logout icon - Free download on Iconfinder">
            <a:hlinkClick r:id="rId7" action="ppaction://hlinksldjump"/>
            <a:extLst>
              <a:ext uri="{FF2B5EF4-FFF2-40B4-BE49-F238E27FC236}">
                <a16:creationId xmlns:a16="http://schemas.microsoft.com/office/drawing/2014/main" id="{C5AE7B53-DC53-32E4-FC65-67C4494CC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7933" y="3139429"/>
            <a:ext cx="236579" cy="236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59A9515-7EB2-6E21-2638-E41C58C5D95F}"/>
              </a:ext>
            </a:extLst>
          </p:cNvPr>
          <p:cNvSpPr txBox="1"/>
          <p:nvPr/>
        </p:nvSpPr>
        <p:spPr>
          <a:xfrm>
            <a:off x="6653317" y="3376014"/>
            <a:ext cx="39789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50000"/>
                  </a:schemeClr>
                </a:solidFill>
              </a:rPr>
              <a:t>User123                                                </a:t>
            </a:r>
            <a:r>
              <a:rPr lang="he-IL" sz="1100" dirty="0">
                <a:solidFill>
                  <a:schemeClr val="bg2">
                    <a:lumMod val="50000"/>
                  </a:schemeClr>
                </a:solidFill>
              </a:rPr>
              <a:t>                                     </a:t>
            </a:r>
            <a:r>
              <a:rPr lang="en-US" sz="1100" dirty="0">
                <a:solidFill>
                  <a:schemeClr val="bg2">
                    <a:lumMod val="50000"/>
                  </a:schemeClr>
                </a:solidFill>
              </a:rPr>
              <a:t>   Logout</a:t>
            </a:r>
          </a:p>
        </p:txBody>
      </p:sp>
      <p:pic>
        <p:nvPicPr>
          <p:cNvPr id="12" name="Picture 24" descr="Bold Settings Icon transparent PNG - StickPNG">
            <a:extLst>
              <a:ext uri="{FF2B5EF4-FFF2-40B4-BE49-F238E27FC236}">
                <a16:creationId xmlns:a16="http://schemas.microsoft.com/office/drawing/2014/main" id="{F656F568-DE27-25AE-523E-06F19948B5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0401" y="5173396"/>
            <a:ext cx="191731" cy="191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6" descr="Statistics - Free business icons">
            <a:extLst>
              <a:ext uri="{FF2B5EF4-FFF2-40B4-BE49-F238E27FC236}">
                <a16:creationId xmlns:a16="http://schemas.microsoft.com/office/drawing/2014/main" id="{D0E82DD6-791D-243A-9AAA-F848DD417B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331" y="5169462"/>
            <a:ext cx="183631" cy="183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2" descr="Computer Icons User Icon design graphics, friend icons, blue, computer png  | PNGEgg">
            <a:hlinkClick r:id="rId11" action="ppaction://hlinksldjump"/>
            <a:extLst>
              <a:ext uri="{FF2B5EF4-FFF2-40B4-BE49-F238E27FC236}">
                <a16:creationId xmlns:a16="http://schemas.microsoft.com/office/drawing/2014/main" id="{4D054C0C-18DA-BD95-6D45-39571406C9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3163" b="95255" l="10000" r="90000">
                        <a14:foregroundMark x1="31667" y1="17047" x2="31667" y2="17047"/>
                        <a14:foregroundMark x1="48444" y1="29701" x2="48444" y2="29701"/>
                        <a14:foregroundMark x1="74889" y1="16169" x2="74889" y2="16169"/>
                        <a14:foregroundMark x1="70667" y1="16872" x2="70667" y2="16872"/>
                        <a14:foregroundMark x1="70444" y1="3339" x2="70444" y2="3339"/>
                        <a14:foregroundMark x1="76000" y1="47979" x2="76000" y2="47979"/>
                        <a14:foregroundMark x1="48444" y1="71880" x2="48444" y2="71880"/>
                        <a14:foregroundMark x1="52889" y1="95255" x2="52889" y2="95255"/>
                        <a14:foregroundMark x1="24000" y1="54130" x2="24000" y2="5413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2943" y="5180222"/>
            <a:ext cx="333827" cy="211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Homepage - Free web icons">
            <a:hlinkClick r:id="" action="ppaction://noaction"/>
            <a:extLst>
              <a:ext uri="{FF2B5EF4-FFF2-40B4-BE49-F238E27FC236}">
                <a16:creationId xmlns:a16="http://schemas.microsoft.com/office/drawing/2014/main" id="{8D64280D-AA83-B128-2E95-8B1B3549E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5003" y="3143032"/>
            <a:ext cx="269680" cy="26968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16" name="Picture 4" descr="Switch Svg Png Icon Free Download (#176203) - OnlineWebFonts.COM">
            <a:extLst>
              <a:ext uri="{FF2B5EF4-FFF2-40B4-BE49-F238E27FC236}">
                <a16:creationId xmlns:a16="http://schemas.microsoft.com/office/drawing/2014/main" id="{B662CA62-CEE1-EDBC-3632-3F4488650F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8000" b="89778" l="7111" r="92000">
                        <a14:foregroundMark x1="27111" y1="8444" x2="27111" y2="8444"/>
                        <a14:foregroundMark x1="91111" y1="32000" x2="91111" y2="43556"/>
                        <a14:foregroundMark x1="92444" y1="56889" x2="92000" y2="60444"/>
                        <a14:foregroundMark x1="85333" y1="76000" x2="75556" y2="77333"/>
                        <a14:foregroundMark x1="7111" y1="47111" x2="7111" y2="58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7925" y="3248704"/>
            <a:ext cx="152290" cy="1522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FD05DDA-CD49-3997-C49F-B521C20A5C87}"/>
              </a:ext>
            </a:extLst>
          </p:cNvPr>
          <p:cNvSpPr txBox="1"/>
          <p:nvPr/>
        </p:nvSpPr>
        <p:spPr>
          <a:xfrm>
            <a:off x="6738166" y="5323013"/>
            <a:ext cx="41183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>
                    <a:lumMod val="50000"/>
                  </a:schemeClr>
                </a:solidFill>
              </a:rPr>
              <a:t>Settings                      Users                    Leaderboard                 Stats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BFB1C82-D479-6BE9-8461-AF0CB82E0FA9}"/>
              </a:ext>
            </a:extLst>
          </p:cNvPr>
          <p:cNvSpPr txBox="1">
            <a:spLocks/>
          </p:cNvSpPr>
          <p:nvPr/>
        </p:nvSpPr>
        <p:spPr>
          <a:xfrm>
            <a:off x="6647095" y="3836717"/>
            <a:ext cx="7047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chemeClr val="accent1">
                    <a:lumMod val="75000"/>
                  </a:schemeClr>
                </a:solidFill>
              </a:rPr>
              <a:t>Tasks</a:t>
            </a:r>
          </a:p>
        </p:txBody>
      </p:sp>
      <p:pic>
        <p:nvPicPr>
          <p:cNvPr id="19" name="Picture 4" descr="Experiment - Free education icons">
            <a:extLst>
              <a:ext uri="{FF2B5EF4-FFF2-40B4-BE49-F238E27FC236}">
                <a16:creationId xmlns:a16="http://schemas.microsoft.com/office/drawing/2014/main" id="{C3D70D91-5944-6E88-8561-345074B4F9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8311" y="3618388"/>
            <a:ext cx="293476" cy="293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2AA38132-61B1-DD9F-CA69-252EE6EAD811}"/>
              </a:ext>
            </a:extLst>
          </p:cNvPr>
          <p:cNvGrpSpPr/>
          <p:nvPr/>
        </p:nvGrpSpPr>
        <p:grpSpPr>
          <a:xfrm>
            <a:off x="10255425" y="3643769"/>
            <a:ext cx="282816" cy="261023"/>
            <a:chOff x="6272337" y="2176921"/>
            <a:chExt cx="744530" cy="687157"/>
          </a:xfrm>
        </p:grpSpPr>
        <p:sp>
          <p:nvSpPr>
            <p:cNvPr id="21" name="Rectangle: Rounded Corners 20">
              <a:hlinkClick r:id="" action="ppaction://noaction"/>
              <a:extLst>
                <a:ext uri="{FF2B5EF4-FFF2-40B4-BE49-F238E27FC236}">
                  <a16:creationId xmlns:a16="http://schemas.microsoft.com/office/drawing/2014/main" id="{331E3C7B-DA33-59AC-5E55-252E4BB404AD}"/>
                </a:ext>
              </a:extLst>
            </p:cNvPr>
            <p:cNvSpPr/>
            <p:nvPr/>
          </p:nvSpPr>
          <p:spPr>
            <a:xfrm>
              <a:off x="6272337" y="2176921"/>
              <a:ext cx="744530" cy="687157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Picture 2" descr="Lab Beta Experiments Svg Png Icon Free Download - Lab Icon Png, Transparent  Png - vhv">
              <a:hlinkClick r:id="" action="ppaction://noaction"/>
              <a:extLst>
                <a:ext uri="{FF2B5EF4-FFF2-40B4-BE49-F238E27FC236}">
                  <a16:creationId xmlns:a16="http://schemas.microsoft.com/office/drawing/2014/main" id="{3818E529-02CD-1AF7-7D6C-DD1E628821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BEBA8EAE-BF5A-486C-A8C5-ECC9F3942E4B}">
                  <a14:imgProps xmlns:a14="http://schemas.microsoft.com/office/drawing/2010/main">
                    <a14:imgLayer r:embed="rId19">
                      <a14:imgEffect>
                        <a14:backgroundRemoval t="5566" b="95283" l="10000" r="90000">
                          <a14:foregroundMark x1="54651" y1="7547" x2="54651" y2="7547"/>
                          <a14:foregroundMark x1="54651" y1="18019" x2="54651" y2="18019"/>
                          <a14:foregroundMark x1="42093" y1="15566" x2="42093" y2="15566"/>
                          <a14:foregroundMark x1="45930" y1="23113" x2="45930" y2="23113"/>
                          <a14:foregroundMark x1="51395" y1="90660" x2="51395" y2="90660"/>
                          <a14:foregroundMark x1="50814" y1="95377" x2="50814" y2="95377"/>
                          <a14:foregroundMark x1="53605" y1="5566" x2="53605" y2="5566"/>
                          <a14:foregroundMark x1="53605" y1="5566" x2="53605" y2="5566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64368" y="2244709"/>
              <a:ext cx="435926" cy="5372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30987EB-1E00-91D7-88EA-537ABFADC217}"/>
                </a:ext>
              </a:extLst>
            </p:cNvPr>
            <p:cNvGrpSpPr/>
            <p:nvPr/>
          </p:nvGrpSpPr>
          <p:grpSpPr>
            <a:xfrm>
              <a:off x="6338944" y="2540228"/>
              <a:ext cx="263550" cy="263550"/>
              <a:chOff x="6156165" y="3842146"/>
              <a:chExt cx="263550" cy="263550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64671C4-E527-DFC9-1C81-9F6236602230}"/>
                  </a:ext>
                </a:extLst>
              </p:cNvPr>
              <p:cNvSpPr/>
              <p:nvPr/>
            </p:nvSpPr>
            <p:spPr>
              <a:xfrm>
                <a:off x="6217848" y="3898900"/>
                <a:ext cx="149189" cy="18653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25" name="Picture 20" descr="Plus - Free interface icons">
                <a:hlinkClick r:id="" action="ppaction://noaction"/>
                <a:extLst>
                  <a:ext uri="{FF2B5EF4-FFF2-40B4-BE49-F238E27FC236}">
                    <a16:creationId xmlns:a16="http://schemas.microsoft.com/office/drawing/2014/main" id="{4E51B1EE-CD16-D25E-28E7-1F4710CA2D4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6156165" y="3842146"/>
                <a:ext cx="263550" cy="2635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26" name="TextBox 25">
            <a:hlinkClick r:id="" action="ppaction://noaction"/>
            <a:extLst>
              <a:ext uri="{FF2B5EF4-FFF2-40B4-BE49-F238E27FC236}">
                <a16:creationId xmlns:a16="http://schemas.microsoft.com/office/drawing/2014/main" id="{9CB37AB2-924A-0D60-6D94-E3AF0A8E7C6E}"/>
              </a:ext>
            </a:extLst>
          </p:cNvPr>
          <p:cNvSpPr txBox="1">
            <a:spLocks/>
          </p:cNvSpPr>
          <p:nvPr/>
        </p:nvSpPr>
        <p:spPr>
          <a:xfrm>
            <a:off x="10093541" y="3884148"/>
            <a:ext cx="8383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2">
                    <a:lumMod val="50000"/>
                  </a:schemeClr>
                </a:solidFill>
              </a:rPr>
              <a:t>Add Task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8DB7163-A09C-C8B6-0873-6D58DB17064D}"/>
              </a:ext>
            </a:extLst>
          </p:cNvPr>
          <p:cNvSpPr txBox="1"/>
          <p:nvPr/>
        </p:nvSpPr>
        <p:spPr>
          <a:xfrm rot="5400000">
            <a:off x="8391585" y="4433360"/>
            <a:ext cx="509416" cy="200055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700" dirty="0"/>
              <a:t>(Active)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E8BE9B9-C43C-FC08-1AD3-9956FF95B567}"/>
              </a:ext>
            </a:extLst>
          </p:cNvPr>
          <p:cNvSpPr/>
          <p:nvPr/>
        </p:nvSpPr>
        <p:spPr>
          <a:xfrm>
            <a:off x="6707670" y="4126988"/>
            <a:ext cx="1901089" cy="82014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073B5A8A-AB16-5064-89A8-521D102CEBD8}"/>
              </a:ext>
            </a:extLst>
          </p:cNvPr>
          <p:cNvSpPr/>
          <p:nvPr/>
        </p:nvSpPr>
        <p:spPr>
          <a:xfrm>
            <a:off x="6700422" y="4974169"/>
            <a:ext cx="1898123" cy="18648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5E1C800-7862-4378-5764-7793C96BCB9A}"/>
              </a:ext>
            </a:extLst>
          </p:cNvPr>
          <p:cNvSpPr txBox="1"/>
          <p:nvPr/>
        </p:nvSpPr>
        <p:spPr>
          <a:xfrm>
            <a:off x="6653317" y="4110724"/>
            <a:ext cx="190108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A Very Long Name</a:t>
            </a:r>
          </a:p>
          <a:p>
            <a:r>
              <a:rPr lang="en-US" sz="700" dirty="0"/>
              <a:t>Species: </a:t>
            </a:r>
            <a:r>
              <a:rPr lang="en-US" sz="700" b="1" dirty="0" err="1"/>
              <a:t>Perengrinus</a:t>
            </a:r>
            <a:r>
              <a:rPr lang="en-US" sz="700" dirty="0"/>
              <a:t> </a:t>
            </a:r>
          </a:p>
          <a:p>
            <a:r>
              <a:rPr lang="en-US" sz="700" dirty="0"/>
              <a:t>Locations: Sde-Boker, </a:t>
            </a:r>
            <a:r>
              <a:rPr lang="en-US" sz="700" dirty="0" err="1"/>
              <a:t>Ze’elim</a:t>
            </a:r>
            <a:r>
              <a:rPr lang="en-US" sz="700" dirty="0"/>
              <a:t>       </a:t>
            </a:r>
          </a:p>
          <a:p>
            <a:r>
              <a:rPr lang="en-US" sz="700" dirty="0"/>
              <a:t>Experiments: x1, x2, x3</a:t>
            </a:r>
          </a:p>
          <a:p>
            <a:r>
              <a:rPr lang="en-US" sz="700" dirty="0"/>
              <a:t>Description: The </a:t>
            </a:r>
            <a:r>
              <a:rPr lang="en-US" sz="700" i="1" dirty="0" err="1"/>
              <a:t>Perengrinus</a:t>
            </a:r>
            <a:r>
              <a:rPr lang="en-US" sz="700" dirty="0"/>
              <a:t> species plays</a:t>
            </a:r>
          </a:p>
          <a:p>
            <a:r>
              <a:rPr lang="en-US" sz="700" dirty="0"/>
              <a:t>                           an important role in </a:t>
            </a:r>
            <a:r>
              <a:rPr lang="en-US" sz="700" dirty="0" err="1"/>
              <a:t>meas</a:t>
            </a:r>
            <a:r>
              <a:rPr lang="en-US" sz="700" dirty="0"/>
              <a:t>…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4E6192-3C2C-FA99-557D-663DAEB0AC0D}"/>
              </a:ext>
            </a:extLst>
          </p:cNvPr>
          <p:cNvSpPr txBox="1"/>
          <p:nvPr/>
        </p:nvSpPr>
        <p:spPr>
          <a:xfrm>
            <a:off x="6702349" y="4977359"/>
            <a:ext cx="17574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A Very Average Name</a:t>
            </a:r>
          </a:p>
        </p:txBody>
      </p:sp>
      <p:pic>
        <p:nvPicPr>
          <p:cNvPr id="224" name="Picture 2" descr="Editing Delete Icon | Windows 8 Iconpack | Icons8">
            <a:extLst>
              <a:ext uri="{FF2B5EF4-FFF2-40B4-BE49-F238E27FC236}">
                <a16:creationId xmlns:a16="http://schemas.microsoft.com/office/drawing/2014/main" id="{8AC4C1B3-C046-6C1B-B693-ECF566672B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0175" y="4610284"/>
            <a:ext cx="168060" cy="159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" name="Picture 4">
            <a:extLst>
              <a:ext uri="{FF2B5EF4-FFF2-40B4-BE49-F238E27FC236}">
                <a16:creationId xmlns:a16="http://schemas.microsoft.com/office/drawing/2014/main" id="{F35F8F7A-A0CF-B145-EEAE-DA700FF670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5059" y="4391334"/>
            <a:ext cx="142006" cy="159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26" name="Group 225">
            <a:extLst>
              <a:ext uri="{FF2B5EF4-FFF2-40B4-BE49-F238E27FC236}">
                <a16:creationId xmlns:a16="http://schemas.microsoft.com/office/drawing/2014/main" id="{E2F43049-5452-E012-2161-0C0685D84D80}"/>
              </a:ext>
            </a:extLst>
          </p:cNvPr>
          <p:cNvGrpSpPr/>
          <p:nvPr/>
        </p:nvGrpSpPr>
        <p:grpSpPr>
          <a:xfrm>
            <a:off x="7567024" y="4292961"/>
            <a:ext cx="295274" cy="202467"/>
            <a:chOff x="8990251" y="2627384"/>
            <a:chExt cx="295274" cy="202467"/>
          </a:xfrm>
        </p:grpSpPr>
        <p:pic>
          <p:nvPicPr>
            <p:cNvPr id="227" name="Picture 2" descr="Image icon - Free download on Iconfinder">
              <a:extLst>
                <a:ext uri="{FF2B5EF4-FFF2-40B4-BE49-F238E27FC236}">
                  <a16:creationId xmlns:a16="http://schemas.microsoft.com/office/drawing/2014/main" id="{EBA0BFBA-8799-7DD3-6429-49B8237F0A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60876" y="2627384"/>
              <a:ext cx="141542" cy="1594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8" name="TextBox 227">
              <a:extLst>
                <a:ext uri="{FF2B5EF4-FFF2-40B4-BE49-F238E27FC236}">
                  <a16:creationId xmlns:a16="http://schemas.microsoft.com/office/drawing/2014/main" id="{769195A4-B67C-0C99-9478-41912B7C1AA6}"/>
                </a:ext>
              </a:extLst>
            </p:cNvPr>
            <p:cNvSpPr txBox="1"/>
            <p:nvPr/>
          </p:nvSpPr>
          <p:spPr>
            <a:xfrm>
              <a:off x="8990251" y="2660574"/>
              <a:ext cx="295274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b="1" dirty="0">
                  <a:solidFill>
                    <a:schemeClr val="bg1"/>
                  </a:solidFill>
                </a:rPr>
                <a:t>REF</a:t>
              </a:r>
            </a:p>
          </p:txBody>
        </p:sp>
      </p:grpSp>
      <p:pic>
        <p:nvPicPr>
          <p:cNvPr id="229" name="Picture 4" descr="Icon Pause Svg PNG Transparent Background, Free Download #29592 -  FreeIconsPNG">
            <a:extLst>
              <a:ext uri="{FF2B5EF4-FFF2-40B4-BE49-F238E27FC236}">
                <a16:creationId xmlns:a16="http://schemas.microsoft.com/office/drawing/2014/main" id="{B3206E33-A752-07DD-E60A-98351D4EBE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8435" y="4144097"/>
            <a:ext cx="204634" cy="230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0" name="TextBox 229">
            <a:extLst>
              <a:ext uri="{FF2B5EF4-FFF2-40B4-BE49-F238E27FC236}">
                <a16:creationId xmlns:a16="http://schemas.microsoft.com/office/drawing/2014/main" id="{5B36AD7F-1D16-D048-2C4A-E636BFA53DB2}"/>
              </a:ext>
            </a:extLst>
          </p:cNvPr>
          <p:cNvSpPr txBox="1"/>
          <p:nvPr/>
        </p:nvSpPr>
        <p:spPr>
          <a:xfrm rot="5400000">
            <a:off x="10334030" y="4447352"/>
            <a:ext cx="509416" cy="200055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700" dirty="0"/>
              <a:t>(Active)</a:t>
            </a:r>
          </a:p>
        </p:txBody>
      </p:sp>
      <p:pic>
        <p:nvPicPr>
          <p:cNvPr id="231" name="Picture 4" descr="Icon Pause Svg PNG Transparent Background, Free Download #29592 -  FreeIconsPNG">
            <a:extLst>
              <a:ext uri="{FF2B5EF4-FFF2-40B4-BE49-F238E27FC236}">
                <a16:creationId xmlns:a16="http://schemas.microsoft.com/office/drawing/2014/main" id="{3B9EB593-91A8-9892-9F40-9E32CE3362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3912" y="4965770"/>
            <a:ext cx="204634" cy="230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2" name="Rectangle: Rounded Corners 231">
            <a:extLst>
              <a:ext uri="{FF2B5EF4-FFF2-40B4-BE49-F238E27FC236}">
                <a16:creationId xmlns:a16="http://schemas.microsoft.com/office/drawing/2014/main" id="{79AB5224-E6CB-A1AD-DC66-040A6032A750}"/>
              </a:ext>
            </a:extLst>
          </p:cNvPr>
          <p:cNvSpPr/>
          <p:nvPr/>
        </p:nvSpPr>
        <p:spPr>
          <a:xfrm>
            <a:off x="8711856" y="4138477"/>
            <a:ext cx="1826385" cy="81397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1EF8DC2B-D1C2-8F7D-8950-1C5CF0DD8FE5}"/>
              </a:ext>
            </a:extLst>
          </p:cNvPr>
          <p:cNvSpPr txBox="1"/>
          <p:nvPr/>
        </p:nvSpPr>
        <p:spPr>
          <a:xfrm>
            <a:off x="8701701" y="4124781"/>
            <a:ext cx="181170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A Very Short Name</a:t>
            </a:r>
          </a:p>
          <a:p>
            <a:r>
              <a:rPr lang="en-US" sz="700" dirty="0"/>
              <a:t>Species: </a:t>
            </a:r>
            <a:r>
              <a:rPr lang="en-US" sz="700" b="1" dirty="0"/>
              <a:t>Mantis Religiosa</a:t>
            </a:r>
            <a:r>
              <a:rPr lang="en-US" sz="700" dirty="0"/>
              <a:t> </a:t>
            </a:r>
          </a:p>
          <a:p>
            <a:r>
              <a:rPr lang="en-US" sz="700" dirty="0"/>
              <a:t>                   </a:t>
            </a:r>
            <a:r>
              <a:rPr lang="en-US" sz="700" b="1" dirty="0" err="1"/>
              <a:t>Artogeia</a:t>
            </a:r>
            <a:r>
              <a:rPr lang="en-US" sz="700" b="1" dirty="0"/>
              <a:t> Rapae</a:t>
            </a:r>
            <a:endParaRPr lang="en-US" sz="700" dirty="0"/>
          </a:p>
          <a:p>
            <a:r>
              <a:rPr lang="en-US" sz="700" dirty="0"/>
              <a:t>Location: North Cape    </a:t>
            </a:r>
          </a:p>
          <a:p>
            <a:r>
              <a:rPr lang="en-US" sz="700" dirty="0"/>
              <a:t>Experiments: name1, name2</a:t>
            </a:r>
          </a:p>
          <a:p>
            <a:r>
              <a:rPr lang="en-US" sz="700" dirty="0"/>
              <a:t>Description: </a:t>
            </a:r>
            <a:r>
              <a:rPr lang="en-US" sz="700" i="1" dirty="0"/>
              <a:t>This insects are</a:t>
            </a:r>
            <a:r>
              <a:rPr lang="en-US" sz="700" dirty="0"/>
              <a:t> commonly... </a:t>
            </a:r>
          </a:p>
        </p:txBody>
      </p: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9FDB7DE6-075C-D8F1-982D-F96F8266E8B6}"/>
              </a:ext>
            </a:extLst>
          </p:cNvPr>
          <p:cNvGrpSpPr/>
          <p:nvPr/>
        </p:nvGrpSpPr>
        <p:grpSpPr>
          <a:xfrm>
            <a:off x="9700221" y="4304490"/>
            <a:ext cx="295274" cy="206599"/>
            <a:chOff x="5940015" y="3377266"/>
            <a:chExt cx="346508" cy="206599"/>
          </a:xfrm>
        </p:grpSpPr>
        <p:pic>
          <p:nvPicPr>
            <p:cNvPr id="235" name="Picture 2" descr="Image icon - Free download on Iconfinder">
              <a:extLst>
                <a:ext uri="{FF2B5EF4-FFF2-40B4-BE49-F238E27FC236}">
                  <a16:creationId xmlns:a16="http://schemas.microsoft.com/office/drawing/2014/main" id="{5E008E8C-DE86-69E0-DA1F-BDB1127FD2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34803" y="3377266"/>
              <a:ext cx="159447" cy="1594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id="{580AD09A-5BFD-CB06-2D46-CFABE9F3F31A}"/>
                </a:ext>
              </a:extLst>
            </p:cNvPr>
            <p:cNvSpPr txBox="1"/>
            <p:nvPr/>
          </p:nvSpPr>
          <p:spPr>
            <a:xfrm>
              <a:off x="5940015" y="3414588"/>
              <a:ext cx="346508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b="1" dirty="0">
                  <a:solidFill>
                    <a:schemeClr val="bg1"/>
                  </a:solidFill>
                </a:rPr>
                <a:t>REF</a:t>
              </a:r>
            </a:p>
          </p:txBody>
        </p:sp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E3E947EF-B1C1-8092-B66B-60266FA915AD}"/>
              </a:ext>
            </a:extLst>
          </p:cNvPr>
          <p:cNvGrpSpPr/>
          <p:nvPr/>
        </p:nvGrpSpPr>
        <p:grpSpPr>
          <a:xfrm>
            <a:off x="9702159" y="4446473"/>
            <a:ext cx="295274" cy="201916"/>
            <a:chOff x="5943146" y="3372502"/>
            <a:chExt cx="346508" cy="201916"/>
          </a:xfrm>
        </p:grpSpPr>
        <p:pic>
          <p:nvPicPr>
            <p:cNvPr id="238" name="Picture 2" descr="Image icon - Free download on Iconfinder">
              <a:extLst>
                <a:ext uri="{FF2B5EF4-FFF2-40B4-BE49-F238E27FC236}">
                  <a16:creationId xmlns:a16="http://schemas.microsoft.com/office/drawing/2014/main" id="{9449CED0-B3A3-8401-2923-8B8AB5863D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34803" y="3372502"/>
              <a:ext cx="159446" cy="1594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9" name="TextBox 238">
              <a:extLst>
                <a:ext uri="{FF2B5EF4-FFF2-40B4-BE49-F238E27FC236}">
                  <a16:creationId xmlns:a16="http://schemas.microsoft.com/office/drawing/2014/main" id="{11D82BCD-5479-0996-BC54-CCA4856A67BD}"/>
                </a:ext>
              </a:extLst>
            </p:cNvPr>
            <p:cNvSpPr txBox="1"/>
            <p:nvPr/>
          </p:nvSpPr>
          <p:spPr>
            <a:xfrm>
              <a:off x="5943146" y="3405141"/>
              <a:ext cx="346508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b="1" dirty="0">
                  <a:solidFill>
                    <a:schemeClr val="bg1"/>
                  </a:solidFill>
                </a:rPr>
                <a:t>REF</a:t>
              </a:r>
            </a:p>
          </p:txBody>
        </p:sp>
      </p:grpSp>
      <p:pic>
        <p:nvPicPr>
          <p:cNvPr id="240" name="Picture 2" descr="Editing Delete Icon | Windows 8 Iconpack | Icons8">
            <a:extLst>
              <a:ext uri="{FF2B5EF4-FFF2-40B4-BE49-F238E27FC236}">
                <a16:creationId xmlns:a16="http://schemas.microsoft.com/office/drawing/2014/main" id="{6AB140B0-0D44-A5F7-6C25-B8F68B4CF5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2080" y="4657373"/>
            <a:ext cx="161327" cy="159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" name="Picture 4">
            <a:extLst>
              <a:ext uri="{FF2B5EF4-FFF2-40B4-BE49-F238E27FC236}">
                <a16:creationId xmlns:a16="http://schemas.microsoft.com/office/drawing/2014/main" id="{EF8F2146-5642-057F-2ADA-95FCC719BF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5920" y="4428263"/>
            <a:ext cx="136317" cy="159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2" name="Picture 4" descr="Icon Pause Svg PNG Transparent Background, Free Download #29592 -  FreeIconsPNG">
            <a:extLst>
              <a:ext uri="{FF2B5EF4-FFF2-40B4-BE49-F238E27FC236}">
                <a16:creationId xmlns:a16="http://schemas.microsoft.com/office/drawing/2014/main" id="{D8234D49-6999-77DE-8A85-43077410DF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1806" y="4161554"/>
            <a:ext cx="196435" cy="230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3" name="TextBox 242">
            <a:extLst>
              <a:ext uri="{FF2B5EF4-FFF2-40B4-BE49-F238E27FC236}">
                <a16:creationId xmlns:a16="http://schemas.microsoft.com/office/drawing/2014/main" id="{22FC2887-80F9-E4BF-2AEE-6C7BEEA8C0EA}"/>
              </a:ext>
            </a:extLst>
          </p:cNvPr>
          <p:cNvSpPr txBox="1"/>
          <p:nvPr/>
        </p:nvSpPr>
        <p:spPr>
          <a:xfrm rot="5400000">
            <a:off x="10420297" y="4499156"/>
            <a:ext cx="521216" cy="98538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endParaRPr lang="en-US" sz="1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6A85DD-9D2C-6D29-9226-276FA0E95625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647095" y="3094950"/>
            <a:ext cx="3978929" cy="2489673"/>
          </a:xfrm>
          <a:prstGeom prst="rect">
            <a:avLst/>
          </a:prstGeom>
        </p:spPr>
      </p:pic>
      <p:pic>
        <p:nvPicPr>
          <p:cNvPr id="244" name="Picture 243">
            <a:extLst>
              <a:ext uri="{FF2B5EF4-FFF2-40B4-BE49-F238E27FC236}">
                <a16:creationId xmlns:a16="http://schemas.microsoft.com/office/drawing/2014/main" id="{DD478E0D-A3E4-C581-9801-56AAA17892B7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642246" y="3089328"/>
            <a:ext cx="3978929" cy="2489673"/>
          </a:xfrm>
          <a:prstGeom prst="rect">
            <a:avLst/>
          </a:prstGeom>
        </p:spPr>
      </p:pic>
      <p:pic>
        <p:nvPicPr>
          <p:cNvPr id="248" name="Picture 247">
            <a:extLst>
              <a:ext uri="{FF2B5EF4-FFF2-40B4-BE49-F238E27FC236}">
                <a16:creationId xmlns:a16="http://schemas.microsoft.com/office/drawing/2014/main" id="{E835E9DD-E73A-93D8-0751-131EA47A1104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655607" y="3081014"/>
            <a:ext cx="3982251" cy="24896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108DF9B-AA04-9A19-35FE-631383B663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72" y="1255071"/>
            <a:ext cx="6306880" cy="2762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790C19D-5FD8-25BC-4709-FE1070286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Main Challenges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21C134B-BA79-9BAD-35DB-1F39BA4CB7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186256"/>
            <a:ext cx="7093688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User Engagement</a:t>
            </a:r>
            <a:br>
              <a:rPr lang="en-US" altLang="en-US" dirty="0">
                <a:latin typeface="Arial" panose="020B0604020202020204" pitchFamily="34" charset="0"/>
              </a:rPr>
            </a:br>
            <a:r>
              <a:rPr lang="en-US" altLang="en-US" dirty="0">
                <a:latin typeface="Arial" panose="020B0604020202020204" pitchFamily="34" charset="0"/>
              </a:rPr>
              <a:t>Keeping users motivated over time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Label Variability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Noisy, inconsistent user labels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Trust &amp; Abuse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Bots, AI-generated answers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2" descr="Captcha, I am not a robot on laptop screen. Vector stock Illustration.  29898140 Vector Art at Vecteezy">
            <a:extLst>
              <a:ext uri="{FF2B5EF4-FFF2-40B4-BE49-F238E27FC236}">
                <a16:creationId xmlns:a16="http://schemas.microsoft.com/office/drawing/2014/main" id="{8564EBCE-C22C-FCBC-40B2-9C1BF28255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2911" y="4819645"/>
            <a:ext cx="2649861" cy="203835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81559FC-2A5F-A816-CDF1-04684AC990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7511062" y="3408337"/>
            <a:ext cx="2649861" cy="176212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539B95-6543-C257-6C63-C6C9E51ADB5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961" b="89844" l="9906" r="95047">
                        <a14:foregroundMark x1="87382" y1="28223" x2="91509" y2="17480"/>
                        <a14:foregroundMark x1="93278" y1="21875" x2="95047" y2="15527"/>
                        <a14:foregroundMark x1="91509" y1="33594" x2="66509" y2="31738"/>
                        <a14:foregroundMark x1="66509" y1="31738" x2="65566" y2="34082"/>
                        <a14:foregroundMark x1="63797" y1="31152" x2="41627" y2="24023"/>
                        <a14:foregroundMark x1="41627" y1="24023" x2="36203" y2="43457"/>
                        <a14:foregroundMark x1="36203" y1="43457" x2="41509" y2="62598"/>
                        <a14:foregroundMark x1="41509" y1="62598" x2="64505" y2="63379"/>
                        <a14:foregroundMark x1="64505" y1="63379" x2="71698" y2="44629"/>
                        <a14:foregroundMark x1="71698" y1="44629" x2="67335" y2="26074"/>
                        <a14:foregroundMark x1="67335" y1="26074" x2="57901" y2="24316"/>
                        <a14:foregroundMark x1="80307" y1="30664" x2="62618" y2="23242"/>
                        <a14:foregroundMark x1="62618" y1="23242" x2="71344" y2="37402"/>
                        <a14:foregroundMark x1="71344" y1="37402" x2="77358" y2="30176"/>
                        <a14:foregroundMark x1="37736" y1="38477" x2="57311" y2="28418"/>
                        <a14:foregroundMark x1="57311" y1="28418" x2="34080" y2="25293"/>
                        <a14:foregroundMark x1="34080" y1="25293" x2="41981" y2="42676"/>
                        <a14:foregroundMark x1="41981" y1="42676" x2="50825" y2="43848"/>
                        <a14:foregroundMark x1="25354" y1="30176" x2="21226" y2="30176"/>
                        <a14:foregroundMark x1="55542" y1="43359" x2="56840" y2="63867"/>
                        <a14:foregroundMark x1="56840" y1="63867" x2="41863" y2="52246"/>
                        <a14:foregroundMark x1="41863" y1="52246" x2="64151" y2="41602"/>
                        <a14:foregroundMark x1="64151" y1="41602" x2="64976" y2="43359"/>
                        <a14:foregroundMark x1="69693" y1="45801" x2="56604" y2="59375"/>
                        <a14:foregroundMark x1="56604" y1="59375" x2="64387" y2="48242"/>
                        <a14:foregroundMark x1="59080" y1="52637" x2="53774" y2="62500"/>
                        <a14:foregroundMark x1="55542" y1="58594" x2="54363" y2="53613"/>
                        <a14:foregroundMark x1="90330" y1="32129" x2="87382" y2="30664"/>
                        <a14:foregroundMark x1="87382" y1="29688" x2="85024" y2="29199"/>
                        <a14:foregroundMark x1="49057" y1="23828" x2="43632" y2="29688"/>
                        <a14:foregroundMark x1="50825" y1="52148" x2="45401" y2="59082"/>
                        <a14:foregroundMark x1="18278" y1="26270" x2="21226" y2="30664"/>
                        <a14:foregroundMark x1="23585" y1="30664" x2="17689" y2="27246"/>
                        <a14:foregroundMark x1="22995" y1="32617" x2="18868" y2="25781"/>
                      </a14:backgroundRemoval>
                    </a14:imgEffect>
                  </a14:imgLayer>
                </a14:imgProps>
              </a:ext>
            </a:extLst>
          </a:blip>
          <a:srcRect b="18739"/>
          <a:stretch>
            <a:fillRect/>
          </a:stretch>
        </p:blipFill>
        <p:spPr>
          <a:xfrm>
            <a:off x="6475590" y="1211268"/>
            <a:ext cx="2118764" cy="2079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9487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979435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Play"/>
              <a:buNone/>
            </a:pPr>
            <a:r>
              <a:rPr lang="en-US" sz="4100" b="1" dirty="0"/>
              <a:t>Driving Engagement Through Gamification</a:t>
            </a:r>
            <a:endParaRPr sz="4100" dirty="0"/>
          </a:p>
        </p:txBody>
      </p:sp>
      <p:sp>
        <p:nvSpPr>
          <p:cNvPr id="157" name="Google Shape;157;p8"/>
          <p:cNvSpPr txBox="1">
            <a:spLocks noGrp="1"/>
          </p:cNvSpPr>
          <p:nvPr>
            <p:ph type="body" idx="1"/>
          </p:nvPr>
        </p:nvSpPr>
        <p:spPr>
          <a:xfrm>
            <a:off x="574159" y="1869869"/>
            <a:ext cx="9122734" cy="4976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2286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/>
              <a:t>To ensure high participation and long-term engagement:</a:t>
            </a:r>
            <a:endParaRPr lang="he-IL" dirty="0"/>
          </a:p>
          <a:p>
            <a:pPr marL="457200" lvl="0" indent="-228600" algn="l" rtl="0">
              <a:spcBef>
                <a:spcPts val="1200"/>
              </a:spcBef>
              <a:spcAft>
                <a:spcPts val="0"/>
              </a:spcAft>
              <a:buNone/>
            </a:pPr>
            <a:endParaRPr lang="en-US" sz="600" dirty="0"/>
          </a:p>
          <a:p>
            <a:pPr marL="457200" lvl="0" indent="-228600" algn="l" rtl="0">
              <a:spcBef>
                <a:spcPts val="1200"/>
              </a:spcBef>
              <a:spcAft>
                <a:spcPts val="0"/>
              </a:spcAft>
              <a:buNone/>
            </a:pPr>
            <a:endParaRPr lang="en-US" sz="600" dirty="0"/>
          </a:p>
          <a:p>
            <a:pPr marL="457200" lvl="0" indent="-228600" algn="l" rtl="0">
              <a:spcBef>
                <a:spcPts val="1200"/>
              </a:spcBef>
              <a:spcAft>
                <a:spcPts val="0"/>
              </a:spcAft>
              <a:buNone/>
            </a:pPr>
            <a:endParaRPr lang="en-US" sz="600" dirty="0"/>
          </a:p>
          <a:p>
            <a:pPr marL="457200" lvl="0" indent="-228600" algn="l" rtl="0">
              <a:spcBef>
                <a:spcPts val="1200"/>
              </a:spcBef>
              <a:spcAft>
                <a:spcPts val="0"/>
              </a:spcAft>
              <a:buNone/>
            </a:pPr>
            <a:endParaRPr lang="en-US" sz="600" dirty="0"/>
          </a:p>
          <a:p>
            <a:pPr marL="457200" lvl="0" indent="-228600" algn="l" rtl="0">
              <a:spcBef>
                <a:spcPts val="1200"/>
              </a:spcBef>
              <a:spcAft>
                <a:spcPts val="0"/>
              </a:spcAft>
              <a:buNone/>
            </a:pPr>
            <a:endParaRPr lang="en-US" sz="600" dirty="0"/>
          </a:p>
          <a:p>
            <a:pPr marL="457200" lvl="0" indent="-228600" algn="l" rtl="0">
              <a:spcBef>
                <a:spcPts val="1200"/>
              </a:spcBef>
              <a:spcAft>
                <a:spcPts val="0"/>
              </a:spcAft>
              <a:buNone/>
            </a:pPr>
            <a:endParaRPr lang="en-US" sz="600" dirty="0"/>
          </a:p>
          <a:p>
            <a:pPr marL="457200" lvl="0" indent="-228600" algn="l" rtl="0">
              <a:spcBef>
                <a:spcPts val="1200"/>
              </a:spcBef>
              <a:spcAft>
                <a:spcPts val="0"/>
              </a:spcAft>
              <a:buNone/>
            </a:pPr>
            <a:endParaRPr lang="en-US" sz="600" dirty="0"/>
          </a:p>
          <a:p>
            <a:pPr marL="457200" lvl="0" indent="-228600" algn="l" rtl="0">
              <a:spcBef>
                <a:spcPts val="1200"/>
              </a:spcBef>
              <a:spcAft>
                <a:spcPts val="0"/>
              </a:spcAft>
              <a:buNone/>
            </a:pPr>
            <a:endParaRPr lang="en-US" sz="600" dirty="0"/>
          </a:p>
          <a:p>
            <a:pPr marL="457200" lvl="0" indent="-228600" algn="l" rtl="0">
              <a:spcBef>
                <a:spcPts val="1200"/>
              </a:spcBef>
              <a:spcAft>
                <a:spcPts val="0"/>
              </a:spcAft>
              <a:buNone/>
            </a:pPr>
            <a:endParaRPr lang="en-US" sz="600" dirty="0"/>
          </a:p>
          <a:p>
            <a:pPr marL="457200" lvl="0" indent="-228600" algn="l" rtl="0">
              <a:spcBef>
                <a:spcPts val="1200"/>
              </a:spcBef>
              <a:spcAft>
                <a:spcPts val="0"/>
              </a:spcAft>
              <a:buNone/>
            </a:pPr>
            <a:endParaRPr sz="600" dirty="0"/>
          </a:p>
          <a:p>
            <a:pPr marL="457200" lvl="0" indent="-406400" algn="l" rtl="0">
              <a:spcBef>
                <a:spcPts val="1200"/>
              </a:spcBef>
              <a:spcAft>
                <a:spcPts val="0"/>
              </a:spcAft>
              <a:buSzPts val="2800"/>
              <a:buChar char="★"/>
            </a:pPr>
            <a:r>
              <a:rPr lang="en-US" dirty="0"/>
              <a:t>Points</a:t>
            </a:r>
            <a:endParaRPr dirty="0"/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★"/>
            </a:pPr>
            <a:r>
              <a:rPr lang="en-US" dirty="0"/>
              <a:t>Streaks</a:t>
            </a:r>
            <a:endParaRPr dirty="0"/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★"/>
            </a:pPr>
            <a:r>
              <a:rPr lang="en-US" dirty="0"/>
              <a:t>Badges</a:t>
            </a:r>
            <a:endParaRPr dirty="0"/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★"/>
            </a:pPr>
            <a:r>
              <a:rPr lang="en-US" dirty="0"/>
              <a:t>Competitive leaderboards</a:t>
            </a:r>
            <a:endParaRPr dirty="0"/>
          </a:p>
        </p:txBody>
      </p:sp>
      <p:sp>
        <p:nvSpPr>
          <p:cNvPr id="158" name="Google Shape;158;p8"/>
          <p:cNvSpPr/>
          <p:nvPr/>
        </p:nvSpPr>
        <p:spPr>
          <a:xfrm rot="10389197" flipH="1">
            <a:off x="6261882" y="687822"/>
            <a:ext cx="5471147" cy="5471147"/>
          </a:xfrm>
          <a:prstGeom prst="arc">
            <a:avLst>
              <a:gd name="adj1" fmla="val 16200000"/>
              <a:gd name="adj2" fmla="val 20093138"/>
            </a:avLst>
          </a:prstGeom>
          <a:noFill/>
          <a:ln w="127000" cap="rnd" cmpd="sng">
            <a:solidFill>
              <a:schemeClr val="accent4">
                <a:alpha val="94901"/>
              </a:schemeClr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10248561" y="921125"/>
            <a:ext cx="791021" cy="7695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0" name="Google Shape;160;p8"/>
          <p:cNvGrpSpPr/>
          <p:nvPr/>
        </p:nvGrpSpPr>
        <p:grpSpPr>
          <a:xfrm>
            <a:off x="7839856" y="2483596"/>
            <a:ext cx="3304060" cy="3304060"/>
            <a:chOff x="7403493" y="1825625"/>
            <a:chExt cx="3808852" cy="3808852"/>
          </a:xfrm>
        </p:grpSpPr>
        <p:pic>
          <p:nvPicPr>
            <p:cNvPr id="161" name="Google Shape;161;p8"/>
            <p:cNvPicPr preferRelativeResize="0"/>
            <p:nvPr/>
          </p:nvPicPr>
          <p:blipFill rotWithShape="1">
            <a:blip r:embed="rId3">
              <a:alphaModFix/>
            </a:blip>
            <a:srcRect r="3" b="3"/>
            <a:stretch/>
          </p:blipFill>
          <p:spPr>
            <a:xfrm>
              <a:off x="7403493" y="1825625"/>
              <a:ext cx="3808852" cy="3808852"/>
            </a:xfrm>
            <a:custGeom>
              <a:avLst/>
              <a:gdLst/>
              <a:ahLst/>
              <a:cxnLst/>
              <a:rect l="l" t="t" r="r" b="b"/>
              <a:pathLst>
                <a:path w="2663168" h="2663168" extrusionOk="0">
                  <a:moveTo>
                    <a:pt x="1331584" y="0"/>
                  </a:moveTo>
                  <a:cubicBezTo>
                    <a:pt x="2066998" y="0"/>
                    <a:pt x="2663168" y="596170"/>
                    <a:pt x="2663168" y="1331584"/>
                  </a:cubicBezTo>
                  <a:cubicBezTo>
                    <a:pt x="2663168" y="2066998"/>
                    <a:pt x="2066998" y="2663168"/>
                    <a:pt x="1331584" y="2663168"/>
                  </a:cubicBezTo>
                  <a:cubicBezTo>
                    <a:pt x="596170" y="2663168"/>
                    <a:pt x="0" y="2066998"/>
                    <a:pt x="0" y="1331584"/>
                  </a:cubicBezTo>
                  <a:cubicBezTo>
                    <a:pt x="0" y="596170"/>
                    <a:pt x="596170" y="0"/>
                    <a:pt x="1331584" y="0"/>
                  </a:cubicBezTo>
                  <a:close/>
                </a:path>
              </a:pathLst>
            </a:custGeom>
            <a:noFill/>
            <a:ln>
              <a:noFill/>
            </a:ln>
          </p:spPr>
        </p:pic>
        <p:pic>
          <p:nvPicPr>
            <p:cNvPr id="162" name="Google Shape;162;p8" descr="fix the text, its should be SwipeLab"/>
            <p:cNvPicPr preferRelativeResize="0"/>
            <p:nvPr/>
          </p:nvPicPr>
          <p:blipFill rotWithShape="1">
            <a:blip r:embed="rId4">
              <a:alphaModFix/>
            </a:blip>
            <a:srcRect l="30751" t="10461" r="20233" b="74521"/>
            <a:stretch/>
          </p:blipFill>
          <p:spPr>
            <a:xfrm>
              <a:off x="8546625" y="2215325"/>
              <a:ext cx="1913626" cy="58632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701EC435-134C-9027-7997-6DFE4E49A8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387" y="3129993"/>
            <a:ext cx="1685468" cy="937779"/>
          </a:xfrm>
          <a:prstGeom prst="rect">
            <a:avLst/>
          </a:prstGeom>
          <a:ln w="28575">
            <a:solidFill>
              <a:srgbClr val="00B0F0"/>
            </a:solidFill>
            <a:prstDash val="dash"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B5FD91-9864-37EE-41BC-7686FAB045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38968" y="3129993"/>
            <a:ext cx="1828800" cy="1257300"/>
          </a:xfrm>
          <a:prstGeom prst="rect">
            <a:avLst/>
          </a:prstGeom>
          <a:ln w="28575">
            <a:solidFill>
              <a:srgbClr val="00B0F0"/>
            </a:solidFill>
            <a:prstDash val="dash"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7A8FF37-2FB8-661C-774D-4A5D9EFE621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5877" b="33640"/>
          <a:stretch>
            <a:fillRect/>
          </a:stretch>
        </p:blipFill>
        <p:spPr>
          <a:xfrm>
            <a:off x="4545881" y="3129994"/>
            <a:ext cx="1363433" cy="1492180"/>
          </a:xfrm>
          <a:prstGeom prst="rect">
            <a:avLst/>
          </a:prstGeom>
          <a:ln w="28575">
            <a:solidFill>
              <a:srgbClr val="00B0F0"/>
            </a:solidFill>
            <a:prstDash val="dash"/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9F803DB-3DA9-6C27-5EE6-5478AB0284E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5008" t="17519" r="1" b="14264"/>
          <a:stretch>
            <a:fillRect/>
          </a:stretch>
        </p:blipFill>
        <p:spPr>
          <a:xfrm>
            <a:off x="6187427" y="3129993"/>
            <a:ext cx="1182840" cy="1665877"/>
          </a:xfrm>
          <a:prstGeom prst="rect">
            <a:avLst/>
          </a:prstGeom>
          <a:ln w="28575">
            <a:solidFill>
              <a:srgbClr val="00B0F0"/>
            </a:solidFill>
            <a:prstDash val="dash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b="1" dirty="0"/>
              <a:t>Data Integrity &amp; Fraud Detection </a:t>
            </a:r>
            <a:endParaRPr dirty="0"/>
          </a:p>
        </p:txBody>
      </p:sp>
      <p:sp>
        <p:nvSpPr>
          <p:cNvPr id="230" name="Google Shape;230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Credibility system based on predefined metrics</a:t>
            </a:r>
            <a:br>
              <a:rPr lang="en-US" altLang="en-US" sz="2400" dirty="0">
                <a:latin typeface="Arial" panose="020B0604020202020204" pitchFamily="34" charset="0"/>
              </a:rPr>
            </a:br>
            <a:r>
              <a:rPr lang="en-US" altLang="en-US" sz="2400" i="1" dirty="0">
                <a:latin typeface="Arial" panose="020B0604020202020204" pitchFamily="34" charset="0"/>
              </a:rPr>
              <a:t>(consensus, agreement with experts, user reliability)</a:t>
            </a:r>
            <a:endParaRPr lang="he-IL" altLang="en-US" sz="2400" i="1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Researchers control how classifications are used based on credibility</a:t>
            </a:r>
            <a:endParaRPr lang="he-IL" altLang="en-US" sz="24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Bot detection identifies suspicious behavior and excludes unreliable inputs</a:t>
            </a:r>
          </a:p>
        </p:txBody>
      </p:sp>
      <p:pic>
        <p:nvPicPr>
          <p:cNvPr id="5" name="Picture 2" descr="Credibility - Free sports and competition icons">
            <a:extLst>
              <a:ext uri="{FF2B5EF4-FFF2-40B4-BE49-F238E27FC236}">
                <a16:creationId xmlns:a16="http://schemas.microsoft.com/office/drawing/2014/main" id="{36B11825-3C50-A60E-CD43-4733740D1E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6185" y="4902233"/>
            <a:ext cx="1446028" cy="1446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Consensus - Free business icons">
            <a:extLst>
              <a:ext uri="{FF2B5EF4-FFF2-40B4-BE49-F238E27FC236}">
                <a16:creationId xmlns:a16="http://schemas.microsoft.com/office/drawing/2014/main" id="{57386704-2BBB-B564-3037-1A8680288A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4480" y="4809639"/>
            <a:ext cx="1631217" cy="1631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400"/>
              <a:buFont typeface="Calibri"/>
              <a:buNone/>
            </a:pPr>
            <a:r>
              <a:rPr lang="en-US">
                <a:solidFill>
                  <a:schemeClr val="accent4"/>
                </a:solidFill>
              </a:rPr>
              <a:t>Project Tech Stack</a:t>
            </a:r>
            <a:endParaRPr/>
          </a:p>
        </p:txBody>
      </p:sp>
      <p:sp>
        <p:nvSpPr>
          <p:cNvPr id="259" name="Google Shape;259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sz="2000" b="1" dirty="0"/>
              <a:t>Mobile (Frontend):</a:t>
            </a:r>
            <a:r>
              <a:rPr lang="en-US" sz="2000" dirty="0"/>
              <a:t> </a:t>
            </a:r>
            <a:r>
              <a:rPr lang="en-US" sz="2000" b="1" dirty="0"/>
              <a:t>React Native + Expo</a:t>
            </a:r>
            <a:endParaRPr sz="2000" b="1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/>
              <a:t>Cross-platform (iOS/Android) with high-performance animations for swiping.</a:t>
            </a: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b="1" dirty="0"/>
              <a:t>Server (Backend):</a:t>
            </a:r>
            <a:r>
              <a:rPr lang="en-US" sz="2000" dirty="0"/>
              <a:t> </a:t>
            </a:r>
            <a:r>
              <a:rPr lang="en-US" sz="2000" b="1" dirty="0"/>
              <a:t>Java Spring Boot</a:t>
            </a:r>
            <a:endParaRPr sz="2000" b="1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/>
              <a:t>Robust REST API utilizing Spring Security for OAuth2 (Google Sign-In).</a:t>
            </a: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b="1" dirty="0"/>
              <a:t>Storage (Database):</a:t>
            </a:r>
            <a:r>
              <a:rPr lang="en-US" sz="2000" dirty="0"/>
              <a:t> </a:t>
            </a:r>
            <a:r>
              <a:rPr lang="en-US" sz="2000" b="1" dirty="0"/>
              <a:t>PostgreSQL</a:t>
            </a:r>
            <a:endParaRPr sz="2000" b="1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/>
              <a:t>Reliable relational storage for tasks, user stats, and consensus labels.</a:t>
            </a: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b="1" dirty="0"/>
              <a:t>Infrastructure &amp; DevOps:</a:t>
            </a:r>
            <a:r>
              <a:rPr lang="en-US" sz="2000" dirty="0"/>
              <a:t> </a:t>
            </a:r>
            <a:r>
              <a:rPr lang="en-US" sz="2000" b="1" dirty="0"/>
              <a:t>Docker &amp; GitHub Actions</a:t>
            </a:r>
            <a:endParaRPr sz="2000" b="1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/>
              <a:t>Containerized deployment with CI/CD for automated testing and stability.</a:t>
            </a:r>
          </a:p>
          <a:p>
            <a:pPr marL="457200" lvl="0" indent="-355600">
              <a:lnSpc>
                <a:spcPct val="115000"/>
              </a:lnSpc>
              <a:spcBef>
                <a:spcPts val="0"/>
              </a:spcBef>
              <a:buSzPts val="2000"/>
              <a:buChar char="●"/>
            </a:pPr>
            <a:r>
              <a:rPr lang="en-US" sz="2000" b="1" dirty="0"/>
              <a:t>AI tools:</a:t>
            </a:r>
            <a:r>
              <a:rPr lang="en-US" sz="2000" dirty="0"/>
              <a:t> </a:t>
            </a:r>
            <a:r>
              <a:rPr lang="en-US" sz="2000" b="1" dirty="0"/>
              <a:t>Antigravity Gemini &amp; Claude Code &amp; ChatGPT</a:t>
            </a:r>
          </a:p>
          <a:p>
            <a:pPr marL="914400" lvl="1" indent="-355600">
              <a:lnSpc>
                <a:spcPct val="115000"/>
              </a:lnSpc>
              <a:spcBef>
                <a:spcPts val="0"/>
              </a:spcBef>
              <a:buSzPts val="2000"/>
              <a:buChar char="○"/>
            </a:pPr>
            <a:r>
              <a:rPr lang="en-US" sz="2000" dirty="0"/>
              <a:t>ChatGPT for designing, Claude Code &amp; Gemini for implementation.</a:t>
            </a:r>
          </a:p>
          <a:p>
            <a:pPr marL="558800" lvl="1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lang="en-US" sz="2000" dirty="0"/>
          </a:p>
          <a:p>
            <a:pPr marL="22860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b="1"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27"/>
              <a:buNone/>
            </a:pPr>
            <a:endParaRPr dirty="0"/>
          </a:p>
        </p:txBody>
      </p:sp>
      <p:pic>
        <p:nvPicPr>
          <p:cNvPr id="2" name="Picture 8" descr="Spring Boot - JAVAPRO International">
            <a:extLst>
              <a:ext uri="{FF2B5EF4-FFF2-40B4-BE49-F238E27FC236}">
                <a16:creationId xmlns:a16="http://schemas.microsoft.com/office/drawing/2014/main" id="{25DB2CEF-01DD-270B-0B15-DBB4A6A260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3540" y="5588628"/>
            <a:ext cx="1176670" cy="1176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10" descr="PostgreSQL logo and symbol, meaning, history, PNG">
            <a:extLst>
              <a:ext uri="{FF2B5EF4-FFF2-40B4-BE49-F238E27FC236}">
                <a16:creationId xmlns:a16="http://schemas.microsoft.com/office/drawing/2014/main" id="{9B53845F-F23E-7F24-ABC9-DD8130FFB9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7577" y="5588628"/>
            <a:ext cx="1882672" cy="1176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What is Docker? - Viking Software A/S">
            <a:extLst>
              <a:ext uri="{FF2B5EF4-FFF2-40B4-BE49-F238E27FC236}">
                <a16:creationId xmlns:a16="http://schemas.microsoft.com/office/drawing/2014/main" id="{1E573FA1-E827-4647-4399-0A91AEFE22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1523" y="5796070"/>
            <a:ext cx="761786" cy="761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React Native | iQuest">
            <a:extLst>
              <a:ext uri="{FF2B5EF4-FFF2-40B4-BE49-F238E27FC236}">
                <a16:creationId xmlns:a16="http://schemas.microsoft.com/office/drawing/2014/main" id="{42D91C0C-AA3F-6829-BA70-A24930E55E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829" y="5822769"/>
            <a:ext cx="1118704" cy="735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Exploring Expo in React Native: A Comprehensive Guide to Cross-Platform App  Development | by Ömür Bilgili | Medium">
            <a:extLst>
              <a:ext uri="{FF2B5EF4-FFF2-40B4-BE49-F238E27FC236}">
                <a16:creationId xmlns:a16="http://schemas.microsoft.com/office/drawing/2014/main" id="{94EA419F-83AA-8826-4D62-E363FECA11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4900" y="5921950"/>
            <a:ext cx="1099209" cy="536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Understanding GitHub Actions: Core Concepts and Fundamentals">
            <a:extLst>
              <a:ext uri="{FF2B5EF4-FFF2-40B4-BE49-F238E27FC236}">
                <a16:creationId xmlns:a16="http://schemas.microsoft.com/office/drawing/2014/main" id="{68FAE46B-672B-B37C-1916-B11ACCDD24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7400" y="5714662"/>
            <a:ext cx="1648062" cy="843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88A25B-B12A-6678-4BE9-140CD98D3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000" b="1" dirty="0"/>
              <a:t>Tests Strategy Overview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Testing Vectors - Download Free High-Quality Vectors | Magnific (formerly  Freepik)">
            <a:extLst>
              <a:ext uri="{FF2B5EF4-FFF2-40B4-BE49-F238E27FC236}">
                <a16:creationId xmlns:a16="http://schemas.microsoft.com/office/drawing/2014/main" id="{AAB2FBC6-49E5-C3C3-C632-DFD4DB9B0E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5283" y="3859618"/>
            <a:ext cx="4260437" cy="299295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666CC-A666-BCB2-6DCC-34E263D6A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5" y="2660904"/>
            <a:ext cx="12074972" cy="3921924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300" dirty="0" err="1"/>
              <a:t>SwipeLab</a:t>
            </a:r>
            <a:r>
              <a:rPr lang="en-US" sz="2300" dirty="0"/>
              <a:t> employs a robust, full-stack testing strategy divided into two primary domains: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E5AFFA-9CB6-FAAC-5041-DD304916CBD5}"/>
              </a:ext>
            </a:extLst>
          </p:cNvPr>
          <p:cNvSpPr txBox="1"/>
          <p:nvPr/>
        </p:nvSpPr>
        <p:spPr>
          <a:xfrm>
            <a:off x="643278" y="3448452"/>
            <a:ext cx="7363038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Backend (Java/Spring Boot): </a:t>
            </a:r>
            <a:r>
              <a:rPr lang="en-US" sz="2200" dirty="0"/>
              <a:t>Heavy emphasis on Unit and Integration testing to ensure data integrity, complex gamification logic, and cross-domain </a:t>
            </a:r>
            <a:r>
              <a:rPr lang="en-US" sz="2200" dirty="0" err="1"/>
              <a:t>eventing</a:t>
            </a:r>
            <a:r>
              <a:rPr lang="en-US" sz="22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Frontend (React Native):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Focus on End-to-End (E2E) testing via Playwright to ensure user flows like swiping and </a:t>
            </a:r>
            <a:r>
              <a:rPr lang="en-US" sz="2200" dirty="0" err="1"/>
              <a:t>reasearcher</a:t>
            </a:r>
            <a:r>
              <a:rPr lang="en-US" sz="2200" dirty="0"/>
              <a:t> management work flawlessly. </a:t>
            </a:r>
          </a:p>
        </p:txBody>
      </p:sp>
    </p:spTree>
    <p:extLst>
      <p:ext uri="{BB962C8B-B14F-4D97-AF65-F5344CB8AC3E}">
        <p14:creationId xmlns:p14="http://schemas.microsoft.com/office/powerpoint/2010/main" val="19841458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b="1"/>
              <a:t>The Value Of SwipeLab</a:t>
            </a:r>
            <a:endParaRPr lang="en-US" dirty="0"/>
          </a:p>
        </p:txBody>
      </p:sp>
      <p:sp>
        <p:nvSpPr>
          <p:cNvPr id="223" name="Google Shape;223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The project brings three core values to the research ecosystem:</a:t>
            </a:r>
          </a:p>
          <a:p>
            <a:pPr marL="0" lvl="0" indent="0" algn="ctr">
              <a:buClr>
                <a:schemeClr val="dk1"/>
              </a:buClr>
              <a:buSzPts val="2800"/>
              <a:buNone/>
            </a:pPr>
            <a:endParaRPr lang="en-US" b="1" dirty="0"/>
          </a:p>
          <a:p>
            <a:pPr marL="0" lvl="0" indent="0" algn="ctr">
              <a:buClr>
                <a:schemeClr val="dk1"/>
              </a:buClr>
              <a:buSzPts val="2800"/>
              <a:buNone/>
            </a:pPr>
            <a:r>
              <a:rPr lang="en-US" b="1" dirty="0"/>
              <a:t>Speed, Labeling Quality, and Scalability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4DADCC-2556-5985-AC82-8DB6DB24E6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9116" y="3429000"/>
            <a:ext cx="5133767" cy="286769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>
          <a:extLst>
            <a:ext uri="{FF2B5EF4-FFF2-40B4-BE49-F238E27FC236}">
              <a16:creationId xmlns:a16="http://schemas.microsoft.com/office/drawing/2014/main" id="{2856B4A4-9EFE-940C-F47C-C2A3774D1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">
            <a:extLst>
              <a:ext uri="{FF2B5EF4-FFF2-40B4-BE49-F238E27FC236}">
                <a16:creationId xmlns:a16="http://schemas.microsoft.com/office/drawing/2014/main" id="{6D7ED17D-F119-5519-E770-AE9E173313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b="1" dirty="0"/>
              <a:t>SwipeLab System Demonstration</a:t>
            </a:r>
            <a:endParaRPr lang="en-US" dirty="0"/>
          </a:p>
        </p:txBody>
      </p:sp>
      <p:sp>
        <p:nvSpPr>
          <p:cNvPr id="223" name="Google Shape;223;p11">
            <a:extLst>
              <a:ext uri="{FF2B5EF4-FFF2-40B4-BE49-F238E27FC236}">
                <a16:creationId xmlns:a16="http://schemas.microsoft.com/office/drawing/2014/main" id="{BAB4C4FE-64CD-F005-F482-0E01966228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dirty="0"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endParaRPr lang="en-US" dirty="0"/>
          </a:p>
        </p:txBody>
      </p:sp>
      <p:pic>
        <p:nvPicPr>
          <p:cNvPr id="2050" name="Picture 2" descr="App_Icon_Animated_GIF_Creation.mp4 [video-to-gif output image]">
            <a:hlinkClick r:id="rId3"/>
            <a:extLst>
              <a:ext uri="{FF2B5EF4-FFF2-40B4-BE49-F238E27FC236}">
                <a16:creationId xmlns:a16="http://schemas.microsoft.com/office/drawing/2014/main" id="{E1B9C6DA-2003-C83E-6389-E037987242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5077" y="2150371"/>
            <a:ext cx="3701845" cy="3701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08741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A50CC-5336-A9FB-1317-CABE5AB94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Questions?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4613E-6CDB-D432-07A7-4BA17E05C3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1819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C1DB5-9523-CE83-1656-DBC93B1CA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Backup slides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4165A-D6E3-CFE5-3EBD-09312B227B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22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67456-6F28-CC97-4786-058979E5B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 descr="Speed Images - Free Download on Magnific (formerly Freepik)">
            <a:extLst>
              <a:ext uri="{FF2B5EF4-FFF2-40B4-BE49-F238E27FC236}">
                <a16:creationId xmlns:a16="http://schemas.microsoft.com/office/drawing/2014/main" id="{33C059EF-1A95-5936-7E9C-A010ADB763A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-142797"/>
            <a:ext cx="1480315" cy="14803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034F1ED-3BA7-FF8D-13CC-0BFDEDC26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5153" y="23608"/>
            <a:ext cx="10515600" cy="1325563"/>
          </a:xfrm>
        </p:spPr>
        <p:txBody>
          <a:bodyPr/>
          <a:lstStyle/>
          <a:p>
            <a:r>
              <a:rPr lang="en-US" b="1" dirty="0"/>
              <a:t>Delivering Faster With AI Tools</a:t>
            </a:r>
          </a:p>
        </p:txBody>
      </p:sp>
      <p:pic>
        <p:nvPicPr>
          <p:cNvPr id="4" name="Picture 3" descr="קובץ:ChatGPT-Logo.png – ויקיפדיה">
            <a:extLst>
              <a:ext uri="{FF2B5EF4-FFF2-40B4-BE49-F238E27FC236}">
                <a16:creationId xmlns:a16="http://schemas.microsoft.com/office/drawing/2014/main" id="{EEEB86E0-F524-D6F3-97ED-C6819B954A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68" y="1499297"/>
            <a:ext cx="2218659" cy="1247996"/>
          </a:xfrm>
          <a:prstGeom prst="rect">
            <a:avLst/>
          </a:prstGeom>
        </p:spPr>
      </p:pic>
      <p:pic>
        <p:nvPicPr>
          <p:cNvPr id="5" name="Picture 4" descr="File:Google Gemini icon 2025.svg - Wikimedia Commons">
            <a:extLst>
              <a:ext uri="{FF2B5EF4-FFF2-40B4-BE49-F238E27FC236}">
                <a16:creationId xmlns:a16="http://schemas.microsoft.com/office/drawing/2014/main" id="{65245768-56B7-29BE-CEA4-AA4CD74680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5282" y="1499297"/>
            <a:ext cx="1249106" cy="1249106"/>
          </a:xfrm>
          <a:prstGeom prst="rect">
            <a:avLst/>
          </a:prstGeom>
        </p:spPr>
      </p:pic>
      <p:pic>
        <p:nvPicPr>
          <p:cNvPr id="6" name="Picture 5" descr="File:Claude AI symbol.svg - Wikimedia Commons">
            <a:extLst>
              <a:ext uri="{FF2B5EF4-FFF2-40B4-BE49-F238E27FC236}">
                <a16:creationId xmlns:a16="http://schemas.microsoft.com/office/drawing/2014/main" id="{64B3861B-46FE-B051-FB8D-DAC88F00BA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0044" y="3096433"/>
            <a:ext cx="1173568" cy="1173568"/>
          </a:xfrm>
          <a:prstGeom prst="rect">
            <a:avLst/>
          </a:prstGeom>
        </p:spPr>
      </p:pic>
      <p:pic>
        <p:nvPicPr>
          <p:cNvPr id="7" name="Picture 6" descr="Google Antigravity Press Assets">
            <a:extLst>
              <a:ext uri="{FF2B5EF4-FFF2-40B4-BE49-F238E27FC236}">
                <a16:creationId xmlns:a16="http://schemas.microsoft.com/office/drawing/2014/main" id="{6D57B60C-78E6-705E-3B73-A188F06EF9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6838" y="2887441"/>
            <a:ext cx="1591552" cy="15915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72ACC6A-341C-142D-8D42-03F52CE853F5}"/>
              </a:ext>
            </a:extLst>
          </p:cNvPr>
          <p:cNvSpPr txBox="1"/>
          <p:nvPr/>
        </p:nvSpPr>
        <p:spPr>
          <a:xfrm>
            <a:off x="442996" y="1819573"/>
            <a:ext cx="81800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Architecture Decisions &amp; Creating Detailed Issues:</a:t>
            </a:r>
          </a:p>
          <a:p>
            <a:endParaRPr lang="en-US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E3A8DB-DED2-5733-BEC3-2B2F8E480BEF}"/>
              </a:ext>
            </a:extLst>
          </p:cNvPr>
          <p:cNvSpPr txBox="1"/>
          <p:nvPr/>
        </p:nvSpPr>
        <p:spPr>
          <a:xfrm>
            <a:off x="442995" y="3315894"/>
            <a:ext cx="81800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Code Agents:</a:t>
            </a:r>
          </a:p>
          <a:p>
            <a:endParaRPr lang="en-US" sz="2800" dirty="0"/>
          </a:p>
        </p:txBody>
      </p:sp>
      <p:pic>
        <p:nvPicPr>
          <p:cNvPr id="12" name="Picture 11" descr="Github Copilot Icon &amp; Logo | Dashboard Icons &amp; Logos">
            <a:extLst>
              <a:ext uri="{FF2B5EF4-FFF2-40B4-BE49-F238E27FC236}">
                <a16:creationId xmlns:a16="http://schemas.microsoft.com/office/drawing/2014/main" id="{9237064E-E91C-8D56-8382-44D81476CC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83235" y="5453544"/>
            <a:ext cx="944596" cy="74967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0F39687-2772-9889-1A41-6265934192AA}"/>
              </a:ext>
            </a:extLst>
          </p:cNvPr>
          <p:cNvSpPr txBox="1"/>
          <p:nvPr/>
        </p:nvSpPr>
        <p:spPr>
          <a:xfrm>
            <a:off x="442995" y="5453544"/>
            <a:ext cx="23533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Code Review:</a:t>
            </a:r>
          </a:p>
          <a:p>
            <a:endParaRPr lang="en-US" sz="2800" dirty="0"/>
          </a:p>
        </p:txBody>
      </p:sp>
      <p:pic>
        <p:nvPicPr>
          <p:cNvPr id="14" name="Picture 13" descr="MD File Extension | Markdown Documentation File | Associated Programs |  Free Online Tools - FileProInfo">
            <a:extLst>
              <a:ext uri="{FF2B5EF4-FFF2-40B4-BE49-F238E27FC236}">
                <a16:creationId xmlns:a16="http://schemas.microsoft.com/office/drawing/2014/main" id="{F76736A5-74C1-2DDC-3CA6-80A311E65A2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5598" y="3096433"/>
            <a:ext cx="1023945" cy="1114433"/>
          </a:xfrm>
          <a:prstGeom prst="rect">
            <a:avLst/>
          </a:prstGeom>
        </p:spPr>
      </p:pic>
      <p:pic>
        <p:nvPicPr>
          <p:cNvPr id="15" name="Picture 14" descr="Plus Icon Vector Art, Icons, and Graphics for Free Download">
            <a:extLst>
              <a:ext uri="{FF2B5EF4-FFF2-40B4-BE49-F238E27FC236}">
                <a16:creationId xmlns:a16="http://schemas.microsoft.com/office/drawing/2014/main" id="{9A8E5D05-A2CE-811D-244C-AA1E1CE8ECF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10541" y="1848365"/>
            <a:ext cx="539564" cy="539564"/>
          </a:xfrm>
          <a:prstGeom prst="rect">
            <a:avLst/>
          </a:prstGeom>
        </p:spPr>
      </p:pic>
      <p:pic>
        <p:nvPicPr>
          <p:cNvPr id="16" name="Picture 15" descr="Plus Icon Vector Art, Icons, and Graphics for Free Download">
            <a:extLst>
              <a:ext uri="{FF2B5EF4-FFF2-40B4-BE49-F238E27FC236}">
                <a16:creationId xmlns:a16="http://schemas.microsoft.com/office/drawing/2014/main" id="{6B46A2F5-B8D6-76F3-0DE4-29BE1F07D12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45291" y="3413435"/>
            <a:ext cx="539564" cy="539564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E3AA51B-8689-73FD-DDB8-B772F3BB1102}"/>
              </a:ext>
            </a:extLst>
          </p:cNvPr>
          <p:cNvCxnSpPr/>
          <p:nvPr/>
        </p:nvCxnSpPr>
        <p:spPr>
          <a:xfrm flipH="1">
            <a:off x="6698512" y="3653649"/>
            <a:ext cx="2094614" cy="0"/>
          </a:xfrm>
          <a:prstGeom prst="straightConnector1">
            <a:avLst/>
          </a:prstGeom>
          <a:ln w="76200">
            <a:solidFill>
              <a:srgbClr val="00B0F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EA87BBD-ED06-B1D1-DAEF-F95A7E8A4A4A}"/>
              </a:ext>
            </a:extLst>
          </p:cNvPr>
          <p:cNvSpPr txBox="1"/>
          <p:nvPr/>
        </p:nvSpPr>
        <p:spPr>
          <a:xfrm>
            <a:off x="6435861" y="3122820"/>
            <a:ext cx="2770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Context &amp; Documentation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5C14D2-EAB3-1753-649D-CD22E0F42A66}"/>
              </a:ext>
            </a:extLst>
          </p:cNvPr>
          <p:cNvSpPr txBox="1"/>
          <p:nvPr/>
        </p:nvSpPr>
        <p:spPr>
          <a:xfrm>
            <a:off x="7056046" y="3820499"/>
            <a:ext cx="1379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Less Tokens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D01709D-19EE-4659-82FF-81DF2BD39C60}"/>
              </a:ext>
            </a:extLst>
          </p:cNvPr>
          <p:cNvSpPr txBox="1"/>
          <p:nvPr/>
        </p:nvSpPr>
        <p:spPr>
          <a:xfrm>
            <a:off x="1972436" y="4367542"/>
            <a:ext cx="28533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Opus</a:t>
            </a:r>
            <a:r>
              <a:rPr lang="en-US" dirty="0"/>
              <a:t>: </a:t>
            </a:r>
            <a:r>
              <a:rPr lang="en-US" sz="1400" dirty="0"/>
              <a:t>Plan Only</a:t>
            </a:r>
          </a:p>
          <a:p>
            <a:pPr algn="ctr"/>
            <a:r>
              <a:rPr lang="en-US" b="1" dirty="0"/>
              <a:t>Sonnet</a:t>
            </a:r>
            <a:r>
              <a:rPr lang="en-US" dirty="0"/>
              <a:t>: </a:t>
            </a:r>
            <a:r>
              <a:rPr lang="en-US" sz="1400" dirty="0"/>
              <a:t>Implementation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8C6371C-3E93-DEAB-9CFD-A373434CD82C}"/>
              </a:ext>
            </a:extLst>
          </p:cNvPr>
          <p:cNvSpPr txBox="1"/>
          <p:nvPr/>
        </p:nvSpPr>
        <p:spPr>
          <a:xfrm>
            <a:off x="3399129" y="4436406"/>
            <a:ext cx="47425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Gemini Pro High</a:t>
            </a:r>
            <a:r>
              <a:rPr lang="en-US" dirty="0"/>
              <a:t>: </a:t>
            </a:r>
          </a:p>
          <a:p>
            <a:pPr algn="ctr"/>
            <a:r>
              <a:rPr lang="en-US" sz="1400" dirty="0"/>
              <a:t>Plan First → Implementation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4EB9D4C-782C-DC76-CF23-D856346D6470}"/>
              </a:ext>
            </a:extLst>
          </p:cNvPr>
          <p:cNvSpPr txBox="1"/>
          <p:nvPr/>
        </p:nvSpPr>
        <p:spPr>
          <a:xfrm>
            <a:off x="1095153" y="6231393"/>
            <a:ext cx="47425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Copilot</a:t>
            </a:r>
            <a:r>
              <a:rPr lang="en-US" dirty="0"/>
              <a:t>: </a:t>
            </a:r>
          </a:p>
          <a:p>
            <a:pPr algn="ctr"/>
            <a:r>
              <a:rPr lang="en-US" sz="1400" dirty="0"/>
              <a:t>Reviewing PRs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899F8FA-2EEE-198F-BDB6-69F3AFC9F071}"/>
              </a:ext>
            </a:extLst>
          </p:cNvPr>
          <p:cNvSpPr txBox="1"/>
          <p:nvPr/>
        </p:nvSpPr>
        <p:spPr>
          <a:xfrm>
            <a:off x="6834308" y="1169038"/>
            <a:ext cx="4742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ChatGPT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D06FBDC-EA4B-8E58-DBB9-7172F93DBDA4}"/>
              </a:ext>
            </a:extLst>
          </p:cNvPr>
          <p:cNvSpPr txBox="1"/>
          <p:nvPr/>
        </p:nvSpPr>
        <p:spPr>
          <a:xfrm>
            <a:off x="8838546" y="1164505"/>
            <a:ext cx="4742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Gemini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4430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0992A-B36D-2D0A-E1D0-EC616A4FE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93DC8-24BD-304C-1A05-F7402958D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Backend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A4C33-2694-4195-A6ED-C9529FD18F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5945482-3E08-CF2C-FA7F-E57C39824036}"/>
              </a:ext>
            </a:extLst>
          </p:cNvPr>
          <p:cNvSpPr/>
          <p:nvPr/>
        </p:nvSpPr>
        <p:spPr>
          <a:xfrm>
            <a:off x="7729994" y="2681031"/>
            <a:ext cx="1775952" cy="7521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Classification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3F69A5F-C506-327E-8107-8DB7E959C7AF}"/>
              </a:ext>
            </a:extLst>
          </p:cNvPr>
          <p:cNvSpPr/>
          <p:nvPr/>
        </p:nvSpPr>
        <p:spPr>
          <a:xfrm>
            <a:off x="7729994" y="3867252"/>
            <a:ext cx="1775952" cy="7521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Gamification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8AB2C6B-7AE7-0040-88FE-14440BB6A1B6}"/>
              </a:ext>
            </a:extLst>
          </p:cNvPr>
          <p:cNvSpPr/>
          <p:nvPr/>
        </p:nvSpPr>
        <p:spPr>
          <a:xfrm>
            <a:off x="117985" y="2676832"/>
            <a:ext cx="1775952" cy="7521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Auth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023ABF3-1D87-7BC2-DFB5-BC46DE6F4DC1}"/>
              </a:ext>
            </a:extLst>
          </p:cNvPr>
          <p:cNvSpPr/>
          <p:nvPr/>
        </p:nvSpPr>
        <p:spPr>
          <a:xfrm>
            <a:off x="2567138" y="3249126"/>
            <a:ext cx="1775952" cy="7521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D1F1467-1B9F-9AAC-D51D-83385F7B4B27}"/>
              </a:ext>
            </a:extLst>
          </p:cNvPr>
          <p:cNvSpPr/>
          <p:nvPr/>
        </p:nvSpPr>
        <p:spPr>
          <a:xfrm>
            <a:off x="5049485" y="2676832"/>
            <a:ext cx="1775952" cy="7521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Tasks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369A808-FF00-5E24-B2E5-0AD24FFDE0F6}"/>
              </a:ext>
            </a:extLst>
          </p:cNvPr>
          <p:cNvSpPr/>
          <p:nvPr/>
        </p:nvSpPr>
        <p:spPr>
          <a:xfrm>
            <a:off x="10251049" y="3249126"/>
            <a:ext cx="1775952" cy="7521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Analytics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803C713-E05A-F6DF-36DE-9E917D2CBF7F}"/>
              </a:ext>
            </a:extLst>
          </p:cNvPr>
          <p:cNvSpPr/>
          <p:nvPr/>
        </p:nvSpPr>
        <p:spPr>
          <a:xfrm>
            <a:off x="117985" y="3926246"/>
            <a:ext cx="1775952" cy="7521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Integration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7595160-E91D-139F-8B94-285178D2458F}"/>
              </a:ext>
            </a:extLst>
          </p:cNvPr>
          <p:cNvSpPr/>
          <p:nvPr/>
        </p:nvSpPr>
        <p:spPr>
          <a:xfrm>
            <a:off x="5049485" y="3904123"/>
            <a:ext cx="1775952" cy="7521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Recipients</a:t>
            </a:r>
          </a:p>
        </p:txBody>
      </p:sp>
      <p:sp>
        <p:nvSpPr>
          <p:cNvPr id="12" name="Cylinder 11">
            <a:extLst>
              <a:ext uri="{FF2B5EF4-FFF2-40B4-BE49-F238E27FC236}">
                <a16:creationId xmlns:a16="http://schemas.microsoft.com/office/drawing/2014/main" id="{5C89AEC3-C271-94B1-04FF-7EF99524F213}"/>
              </a:ext>
            </a:extLst>
          </p:cNvPr>
          <p:cNvSpPr/>
          <p:nvPr/>
        </p:nvSpPr>
        <p:spPr>
          <a:xfrm>
            <a:off x="223683" y="5252627"/>
            <a:ext cx="1564556" cy="1059273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STARdbi</a:t>
            </a:r>
            <a:r>
              <a:rPr lang="en-US" dirty="0"/>
              <a:t> </a:t>
            </a:r>
            <a:r>
              <a:rPr lang="en-US" dirty="0" err="1"/>
              <a:t>api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38B9420-2356-1963-0CD4-DFB5274CE69D}"/>
              </a:ext>
            </a:extLst>
          </p:cNvPr>
          <p:cNvSpPr/>
          <p:nvPr/>
        </p:nvSpPr>
        <p:spPr>
          <a:xfrm>
            <a:off x="-967563" y="1392865"/>
            <a:ext cx="13747898" cy="54651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C9DF325-9277-57FC-5F14-809FFEF95D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014" y="1336803"/>
            <a:ext cx="10122195" cy="5521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0175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89B7F-28A0-5984-74E2-D11A89EE5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AB72A-D1E1-8AC6-6A91-E4D6EAF07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562"/>
            <a:ext cx="10515600" cy="1325563"/>
          </a:xfrm>
        </p:spPr>
        <p:txBody>
          <a:bodyPr/>
          <a:lstStyle/>
          <a:p>
            <a:r>
              <a:rPr lang="en-US" b="1" dirty="0"/>
              <a:t>Backend Package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06395-04B3-11F3-9717-0F714F3C9B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0691"/>
            <a:ext cx="10515600" cy="435133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EDD9C53-C837-500F-4608-E6AF157B9FC6}"/>
              </a:ext>
            </a:extLst>
          </p:cNvPr>
          <p:cNvSpPr/>
          <p:nvPr/>
        </p:nvSpPr>
        <p:spPr>
          <a:xfrm>
            <a:off x="766916" y="1421353"/>
            <a:ext cx="1775952" cy="7521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api</a:t>
            </a:r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6CEC995-B557-ACF9-3913-8195DA2FE7B1}"/>
              </a:ext>
            </a:extLst>
          </p:cNvPr>
          <p:cNvSpPr/>
          <p:nvPr/>
        </p:nvSpPr>
        <p:spPr>
          <a:xfrm>
            <a:off x="3672348" y="3467390"/>
            <a:ext cx="1775952" cy="7521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domain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4680941-AA66-34E0-E9A2-8231EB4141A6}"/>
              </a:ext>
            </a:extLst>
          </p:cNvPr>
          <p:cNvSpPr/>
          <p:nvPr/>
        </p:nvSpPr>
        <p:spPr>
          <a:xfrm>
            <a:off x="6509578" y="5541126"/>
            <a:ext cx="1775952" cy="7521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events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2E90080-83B1-8D1A-EBD1-FE56A19F9DD5}"/>
              </a:ext>
            </a:extLst>
          </p:cNvPr>
          <p:cNvSpPr/>
          <p:nvPr/>
        </p:nvSpPr>
        <p:spPr>
          <a:xfrm>
            <a:off x="2330245" y="2451746"/>
            <a:ext cx="1775952" cy="7521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application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897C434-7ACB-3E42-8BE4-714DD3957079}"/>
              </a:ext>
            </a:extLst>
          </p:cNvPr>
          <p:cNvSpPr/>
          <p:nvPr/>
        </p:nvSpPr>
        <p:spPr>
          <a:xfrm>
            <a:off x="5058696" y="4482136"/>
            <a:ext cx="1775952" cy="7521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infrastructure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3B59826-126A-8434-0A86-84FBE7A291F0}"/>
              </a:ext>
            </a:extLst>
          </p:cNvPr>
          <p:cNvGrpSpPr/>
          <p:nvPr/>
        </p:nvGrpSpPr>
        <p:grpSpPr>
          <a:xfrm>
            <a:off x="3218221" y="1332579"/>
            <a:ext cx="1383267" cy="922536"/>
            <a:chOff x="7501515" y="1489587"/>
            <a:chExt cx="1974012" cy="1285376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8D84060-ED5F-AEE9-C21B-ACC5A307E911}"/>
                </a:ext>
              </a:extLst>
            </p:cNvPr>
            <p:cNvSpPr/>
            <p:nvPr/>
          </p:nvSpPr>
          <p:spPr>
            <a:xfrm rot="2070081">
              <a:off x="7501515" y="1713732"/>
              <a:ext cx="614516" cy="103886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B6FDFA6-C1D4-2E73-72AC-83B1B443DC69}"/>
                </a:ext>
              </a:extLst>
            </p:cNvPr>
            <p:cNvSpPr/>
            <p:nvPr/>
          </p:nvSpPr>
          <p:spPr>
            <a:xfrm rot="8775717">
              <a:off x="8861011" y="1736095"/>
              <a:ext cx="614516" cy="103886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55628D1-F5A1-3B96-20BB-73D1DEAE2157}"/>
                </a:ext>
              </a:extLst>
            </p:cNvPr>
            <p:cNvSpPr/>
            <p:nvPr/>
          </p:nvSpPr>
          <p:spPr>
            <a:xfrm>
              <a:off x="7698658" y="1489587"/>
              <a:ext cx="1519084" cy="103886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Controller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613E370-CFD0-B06C-CAA1-76E7160EF7A8}"/>
              </a:ext>
            </a:extLst>
          </p:cNvPr>
          <p:cNvGrpSpPr/>
          <p:nvPr/>
        </p:nvGrpSpPr>
        <p:grpSpPr>
          <a:xfrm>
            <a:off x="5037992" y="1336169"/>
            <a:ext cx="1383267" cy="922536"/>
            <a:chOff x="7501515" y="1489587"/>
            <a:chExt cx="1974012" cy="1285376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B9F2B7DD-2A13-D9A6-76EF-A24A4D5CB504}"/>
                </a:ext>
              </a:extLst>
            </p:cNvPr>
            <p:cNvSpPr/>
            <p:nvPr/>
          </p:nvSpPr>
          <p:spPr>
            <a:xfrm rot="2070081">
              <a:off x="7501515" y="1713732"/>
              <a:ext cx="614516" cy="103886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6A0CD37-4CAA-4994-E7A5-835948EF4C4E}"/>
                </a:ext>
              </a:extLst>
            </p:cNvPr>
            <p:cNvSpPr/>
            <p:nvPr/>
          </p:nvSpPr>
          <p:spPr>
            <a:xfrm rot="8775717">
              <a:off x="8861011" y="1736095"/>
              <a:ext cx="614516" cy="103886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98244F2-8312-10A4-AA2E-57E32B90D129}"/>
                </a:ext>
              </a:extLst>
            </p:cNvPr>
            <p:cNvSpPr/>
            <p:nvPr/>
          </p:nvSpPr>
          <p:spPr>
            <a:xfrm>
              <a:off x="7698658" y="1489587"/>
              <a:ext cx="1519084" cy="103886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Controller</a:t>
              </a:r>
            </a:p>
          </p:txBody>
        </p:sp>
      </p:grpSp>
      <p:sp>
        <p:nvSpPr>
          <p:cNvPr id="21" name="Rectangle: Diagonal Corners Snipped 20">
            <a:extLst>
              <a:ext uri="{FF2B5EF4-FFF2-40B4-BE49-F238E27FC236}">
                <a16:creationId xmlns:a16="http://schemas.microsoft.com/office/drawing/2014/main" id="{5680A382-00E9-D538-14D2-F9526E15875F}"/>
              </a:ext>
            </a:extLst>
          </p:cNvPr>
          <p:cNvSpPr/>
          <p:nvPr/>
        </p:nvSpPr>
        <p:spPr>
          <a:xfrm>
            <a:off x="4525063" y="2621581"/>
            <a:ext cx="1037304" cy="491565"/>
          </a:xfrm>
          <a:prstGeom prst="snip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Service</a:t>
            </a:r>
          </a:p>
        </p:txBody>
      </p:sp>
      <p:sp>
        <p:nvSpPr>
          <p:cNvPr id="22" name="Rectangle: Diagonal Corners Snipped 21">
            <a:extLst>
              <a:ext uri="{FF2B5EF4-FFF2-40B4-BE49-F238E27FC236}">
                <a16:creationId xmlns:a16="http://schemas.microsoft.com/office/drawing/2014/main" id="{B1E49914-13A1-151C-5979-145D29560B69}"/>
              </a:ext>
            </a:extLst>
          </p:cNvPr>
          <p:cNvSpPr/>
          <p:nvPr/>
        </p:nvSpPr>
        <p:spPr>
          <a:xfrm>
            <a:off x="5797344" y="2623859"/>
            <a:ext cx="1037304" cy="491565"/>
          </a:xfrm>
          <a:prstGeom prst="snip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Service</a:t>
            </a:r>
          </a:p>
        </p:txBody>
      </p:sp>
      <p:sp>
        <p:nvSpPr>
          <p:cNvPr id="23" name="Rectangle: Diagonal Corners Snipped 22">
            <a:extLst>
              <a:ext uri="{FF2B5EF4-FFF2-40B4-BE49-F238E27FC236}">
                <a16:creationId xmlns:a16="http://schemas.microsoft.com/office/drawing/2014/main" id="{B98E132D-0DEE-EB5B-04E9-9F7E69EF3FDE}"/>
              </a:ext>
            </a:extLst>
          </p:cNvPr>
          <p:cNvSpPr/>
          <p:nvPr/>
        </p:nvSpPr>
        <p:spPr>
          <a:xfrm>
            <a:off x="5797344" y="3588040"/>
            <a:ext cx="946358" cy="491565"/>
          </a:xfrm>
          <a:prstGeom prst="snip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Domain Objects</a:t>
            </a:r>
          </a:p>
        </p:txBody>
      </p:sp>
      <p:sp>
        <p:nvSpPr>
          <p:cNvPr id="24" name="Rectangle: Diagonal Corners Snipped 23">
            <a:extLst>
              <a:ext uri="{FF2B5EF4-FFF2-40B4-BE49-F238E27FC236}">
                <a16:creationId xmlns:a16="http://schemas.microsoft.com/office/drawing/2014/main" id="{5CB87A83-E0E0-6A77-973B-728B99B32F95}"/>
              </a:ext>
            </a:extLst>
          </p:cNvPr>
          <p:cNvSpPr/>
          <p:nvPr/>
        </p:nvSpPr>
        <p:spPr>
          <a:xfrm>
            <a:off x="6924375" y="3597691"/>
            <a:ext cx="946358" cy="491565"/>
          </a:xfrm>
          <a:prstGeom prst="snip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Domain Services</a:t>
            </a:r>
          </a:p>
        </p:txBody>
      </p:sp>
      <p:sp>
        <p:nvSpPr>
          <p:cNvPr id="25" name="Speech Bubble: Oval 24">
            <a:extLst>
              <a:ext uri="{FF2B5EF4-FFF2-40B4-BE49-F238E27FC236}">
                <a16:creationId xmlns:a16="http://schemas.microsoft.com/office/drawing/2014/main" id="{A676860E-2DC8-A7EA-AD8D-A92EC6A2BA39}"/>
              </a:ext>
            </a:extLst>
          </p:cNvPr>
          <p:cNvSpPr/>
          <p:nvPr/>
        </p:nvSpPr>
        <p:spPr>
          <a:xfrm>
            <a:off x="9701679" y="5594393"/>
            <a:ext cx="1020399" cy="645634"/>
          </a:xfrm>
          <a:prstGeom prst="wedgeEllipseCallout">
            <a:avLst>
              <a:gd name="adj1" fmla="val -49404"/>
              <a:gd name="adj2" fmla="val 4879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Updated</a:t>
            </a:r>
          </a:p>
          <a:p>
            <a:pPr algn="ctr"/>
            <a:r>
              <a:rPr lang="en-US" sz="1100" dirty="0"/>
              <a:t>Event</a:t>
            </a:r>
          </a:p>
        </p:txBody>
      </p:sp>
      <p:sp>
        <p:nvSpPr>
          <p:cNvPr id="26" name="Speech Bubble: Oval 25">
            <a:extLst>
              <a:ext uri="{FF2B5EF4-FFF2-40B4-BE49-F238E27FC236}">
                <a16:creationId xmlns:a16="http://schemas.microsoft.com/office/drawing/2014/main" id="{37F07122-BE9F-C424-B28F-EDEB3E35D046}"/>
              </a:ext>
            </a:extLst>
          </p:cNvPr>
          <p:cNvSpPr/>
          <p:nvPr/>
        </p:nvSpPr>
        <p:spPr>
          <a:xfrm>
            <a:off x="10867104" y="5594393"/>
            <a:ext cx="1226574" cy="645634"/>
          </a:xfrm>
          <a:prstGeom prst="wedgeEllipseCallout">
            <a:avLst>
              <a:gd name="adj1" fmla="val -49404"/>
              <a:gd name="adj2" fmla="val 4879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Submitted</a:t>
            </a:r>
          </a:p>
          <a:p>
            <a:pPr algn="ctr"/>
            <a:r>
              <a:rPr lang="en-US" sz="1100" dirty="0"/>
              <a:t>Event</a:t>
            </a:r>
          </a:p>
        </p:txBody>
      </p:sp>
      <p:sp>
        <p:nvSpPr>
          <p:cNvPr id="27" name="Cylinder 26">
            <a:extLst>
              <a:ext uri="{FF2B5EF4-FFF2-40B4-BE49-F238E27FC236}">
                <a16:creationId xmlns:a16="http://schemas.microsoft.com/office/drawing/2014/main" id="{FB030833-ABD5-B09B-40F8-CCFF351800BD}"/>
              </a:ext>
            </a:extLst>
          </p:cNvPr>
          <p:cNvSpPr/>
          <p:nvPr/>
        </p:nvSpPr>
        <p:spPr>
          <a:xfrm>
            <a:off x="7167716" y="4585777"/>
            <a:ext cx="1117814" cy="604283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Repositories</a:t>
            </a:r>
          </a:p>
        </p:txBody>
      </p:sp>
      <p:sp>
        <p:nvSpPr>
          <p:cNvPr id="28" name="Cloud 27">
            <a:extLst>
              <a:ext uri="{FF2B5EF4-FFF2-40B4-BE49-F238E27FC236}">
                <a16:creationId xmlns:a16="http://schemas.microsoft.com/office/drawing/2014/main" id="{CC3788FE-1337-F032-B72D-FB61C67DD2A0}"/>
              </a:ext>
            </a:extLst>
          </p:cNvPr>
          <p:cNvSpPr/>
          <p:nvPr/>
        </p:nvSpPr>
        <p:spPr>
          <a:xfrm>
            <a:off x="8618598" y="4511834"/>
            <a:ext cx="1211826" cy="752168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Event</a:t>
            </a:r>
          </a:p>
          <a:p>
            <a:pPr algn="ctr"/>
            <a:r>
              <a:rPr lang="en-US" sz="1200" dirty="0"/>
              <a:t>Listener</a:t>
            </a:r>
          </a:p>
        </p:txBody>
      </p:sp>
      <p:sp>
        <p:nvSpPr>
          <p:cNvPr id="29" name="Speech Bubble: Oval 28">
            <a:extLst>
              <a:ext uri="{FF2B5EF4-FFF2-40B4-BE49-F238E27FC236}">
                <a16:creationId xmlns:a16="http://schemas.microsoft.com/office/drawing/2014/main" id="{BDE5F3B4-C9CF-1E73-73C3-39890A0159D1}"/>
              </a:ext>
            </a:extLst>
          </p:cNvPr>
          <p:cNvSpPr/>
          <p:nvPr/>
        </p:nvSpPr>
        <p:spPr>
          <a:xfrm>
            <a:off x="8536254" y="5594393"/>
            <a:ext cx="1020399" cy="645634"/>
          </a:xfrm>
          <a:prstGeom prst="wedgeEllipseCallout">
            <a:avLst>
              <a:gd name="adj1" fmla="val -49404"/>
              <a:gd name="adj2" fmla="val 4879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Created</a:t>
            </a:r>
          </a:p>
          <a:p>
            <a:pPr algn="ctr"/>
            <a:r>
              <a:rPr lang="en-US" sz="1100" dirty="0"/>
              <a:t>Event</a:t>
            </a:r>
          </a:p>
        </p:txBody>
      </p:sp>
      <p:pic>
        <p:nvPicPr>
          <p:cNvPr id="4" name="Picture 3" descr="Scalability Icon - Business Growth – Royalty-Free Vector | VectorStock">
            <a:extLst>
              <a:ext uri="{FF2B5EF4-FFF2-40B4-BE49-F238E27FC236}">
                <a16:creationId xmlns:a16="http://schemas.microsoft.com/office/drawing/2014/main" id="{0188147C-31C4-CE83-E480-98FF46D00A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402"/>
          <a:stretch>
            <a:fillRect/>
          </a:stretch>
        </p:blipFill>
        <p:spPr>
          <a:xfrm>
            <a:off x="7167716" y="145128"/>
            <a:ext cx="900716" cy="822954"/>
          </a:xfrm>
          <a:prstGeom prst="rect">
            <a:avLst/>
          </a:prstGeom>
        </p:spPr>
      </p:pic>
      <p:pic>
        <p:nvPicPr>
          <p:cNvPr id="5" name="Picture 4" descr="BEN-GURION HIPSTER POSTER - צריף בן-גוריון">
            <a:extLst>
              <a:ext uri="{FF2B5EF4-FFF2-40B4-BE49-F238E27FC236}">
                <a16:creationId xmlns:a16="http://schemas.microsoft.com/office/drawing/2014/main" id="{EC0AD06C-63A3-11F5-4C42-83BEF21111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58" y="4895644"/>
            <a:ext cx="2224312" cy="2224312"/>
          </a:xfrm>
          <a:prstGeom prst="rect">
            <a:avLst/>
          </a:prstGeom>
        </p:spPr>
      </p:pic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5E67FB39-2906-E01B-BCA6-199340252AD3}"/>
              </a:ext>
            </a:extLst>
          </p:cNvPr>
          <p:cNvSpPr/>
          <p:nvPr/>
        </p:nvSpPr>
        <p:spPr>
          <a:xfrm>
            <a:off x="1348071" y="4619752"/>
            <a:ext cx="2121867" cy="641918"/>
          </a:xfrm>
          <a:prstGeom prst="wedgeRectCallout">
            <a:avLst>
              <a:gd name="adj1" fmla="val -39559"/>
              <a:gd name="adj2" fmla="val 80708"/>
            </a:avLst>
          </a:prstGeom>
          <a:ln>
            <a:solidFill>
              <a:srgbClr val="F1CF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Ready For Scaling!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B9980E2-96FF-E5CD-8BB7-CA8FABBA595B}"/>
              </a:ext>
            </a:extLst>
          </p:cNvPr>
          <p:cNvSpPr txBox="1"/>
          <p:nvPr/>
        </p:nvSpPr>
        <p:spPr>
          <a:xfrm>
            <a:off x="2636499" y="6479959"/>
            <a:ext cx="95555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Designed with highly decoupled packages, our architecture is inherently ready for microservices migration.</a:t>
            </a:r>
          </a:p>
        </p:txBody>
      </p:sp>
    </p:spTree>
    <p:extLst>
      <p:ext uri="{BB962C8B-B14F-4D97-AF65-F5344CB8AC3E}">
        <p14:creationId xmlns:p14="http://schemas.microsoft.com/office/powerpoint/2010/main" val="18205910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90AE2-0FAC-2092-AAFB-144CF2920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Backend Testing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52DC6-7B9A-686E-4432-80F94402A8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659256" cy="5032375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JUnit 5: </a:t>
            </a:r>
            <a:r>
              <a:rPr lang="en-US" dirty="0"/>
              <a:t>Core framework for test execution and lifecycle management. </a:t>
            </a:r>
          </a:p>
          <a:p>
            <a:r>
              <a:rPr lang="en-US" b="1" dirty="0"/>
              <a:t>Mockito: </a:t>
            </a:r>
            <a:r>
              <a:rPr lang="en-US" dirty="0"/>
              <a:t>Mocking dependencies (Repositories, services) to isolate unit tests. </a:t>
            </a:r>
          </a:p>
          <a:p>
            <a:r>
              <a:rPr lang="en-US" b="1" dirty="0"/>
              <a:t>Spring Boot Test: </a:t>
            </a:r>
            <a:r>
              <a:rPr lang="en-US" dirty="0"/>
              <a:t>Context loading and </a:t>
            </a:r>
            <a:r>
              <a:rPr lang="en-US" dirty="0" err="1"/>
              <a:t>MockMvc</a:t>
            </a:r>
            <a:r>
              <a:rPr lang="en-US" dirty="0"/>
              <a:t> for API endpoint validation. </a:t>
            </a:r>
          </a:p>
          <a:p>
            <a:r>
              <a:rPr lang="en-US" b="1" dirty="0"/>
              <a:t>H2 / </a:t>
            </a:r>
            <a:r>
              <a:rPr lang="en-US" b="1" dirty="0" err="1"/>
              <a:t>Testcontainers</a:t>
            </a:r>
            <a:r>
              <a:rPr lang="en-US" b="1" dirty="0"/>
              <a:t>: </a:t>
            </a:r>
            <a:r>
              <a:rPr lang="en-US" dirty="0"/>
              <a:t>Temporary databases for safe integration testing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sz="1800" dirty="0"/>
              <a:t>The suite follows Domain-Driven Design (DDD), mirroring the main application structure (auth, gamification, tasks, etc.).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648CD40-F97C-BE4B-D7C6-E07CB118B7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05" y="4558506"/>
            <a:ext cx="5819775" cy="12001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E23AA10-58B3-15D9-7D33-FD063D7C72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0638"/>
          <a:stretch>
            <a:fillRect/>
          </a:stretch>
        </p:blipFill>
        <p:spPr>
          <a:xfrm>
            <a:off x="6096000" y="4558507"/>
            <a:ext cx="5953125" cy="120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2287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A2AA2-4E16-1C8C-77CE-5E59F346A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B0228-C9B2-43D8-C587-25820752F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9"/>
            <a:ext cx="5338194" cy="1322888"/>
          </a:xfrm>
        </p:spPr>
        <p:txBody>
          <a:bodyPr>
            <a:normAutofit/>
          </a:bodyPr>
          <a:lstStyle/>
          <a:p>
            <a:r>
              <a:rPr lang="en-US" b="1" dirty="0"/>
              <a:t>Backend Test Layers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099E7F9-48CE-A529-F757-09551AAD3F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4101"/>
            <a:ext cx="4742771" cy="3983415"/>
          </a:xfrm>
        </p:spPr>
        <p:txBody>
          <a:bodyPr>
            <a:normAutofit/>
          </a:bodyPr>
          <a:lstStyle/>
          <a:p>
            <a:endParaRPr lang="en-US" sz="20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EC64B86-5170-0D36-29D1-96CB735669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09" y="2194101"/>
            <a:ext cx="6436220" cy="355601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6239BBF-DF28-C42D-8D61-9D89107388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6839" y="2893128"/>
            <a:ext cx="6863012" cy="2157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8034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7217F-C854-A427-4EA3-67AAA02F3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667F4-6449-445C-7A69-1188CEA76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US" b="1" dirty="0"/>
              <a:t>Frontend: User Journeys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36263CE-1541-95A9-ABCD-21E1ABF36E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046"/>
          <a:stretch>
            <a:fillRect/>
          </a:stretch>
        </p:blipFill>
        <p:spPr>
          <a:xfrm>
            <a:off x="4493006" y="2108476"/>
            <a:ext cx="7698994" cy="400766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48B121D-82C0-5860-657F-058E717570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656" y="2291641"/>
            <a:ext cx="5078491" cy="41534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Utilizing </a:t>
            </a:r>
            <a:r>
              <a:rPr lang="en-US" sz="2000" b="1" dirty="0"/>
              <a:t>Playwright</a:t>
            </a:r>
            <a:r>
              <a:rPr lang="en-US" sz="2000" dirty="0"/>
              <a:t> to interact with the React Native app exactly as a human user would. </a:t>
            </a:r>
          </a:p>
          <a:p>
            <a:r>
              <a:rPr lang="en-US" sz="2000" b="1" dirty="0"/>
              <a:t>Shared Flows: </a:t>
            </a:r>
            <a:r>
              <a:rPr lang="en-US" sz="2000" dirty="0"/>
              <a:t>Authentication (login/reg) and settings updates. </a:t>
            </a:r>
          </a:p>
          <a:p>
            <a:r>
              <a:rPr lang="en-US" sz="2000" b="1" dirty="0"/>
              <a:t>User "Swiper" Flows: </a:t>
            </a:r>
            <a:r>
              <a:rPr lang="en-US" sz="2000" dirty="0"/>
              <a:t>Swiping functionality, stats dashboard, credibility scores, and daily challenges. </a:t>
            </a:r>
          </a:p>
          <a:p>
            <a:r>
              <a:rPr lang="en-US" sz="2000" b="1" dirty="0"/>
              <a:t>Admin Flows: </a:t>
            </a:r>
            <a:r>
              <a:rPr lang="en-US" sz="2000" dirty="0"/>
              <a:t>High-level metrics view, task creation, and recipient group management. </a:t>
            </a:r>
          </a:p>
        </p:txBody>
      </p:sp>
    </p:spTree>
    <p:extLst>
      <p:ext uri="{BB962C8B-B14F-4D97-AF65-F5344CB8AC3E}">
        <p14:creationId xmlns:p14="http://schemas.microsoft.com/office/powerpoint/2010/main" val="10856030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D36AB-8113-3076-8804-B0A527E58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DB74-83B7-1246-6CD4-F4442C59F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Conventions &amp; CI/CD Guardrails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8D8C95-161C-51C6-76B6-B1D1578B5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Naming: </a:t>
            </a:r>
            <a:r>
              <a:rPr lang="en-US" dirty="0"/>
              <a:t>Backend ends in Test.java; Frontend ends in .</a:t>
            </a:r>
            <a:r>
              <a:rPr lang="en-US" dirty="0" err="1"/>
              <a:t>spec.ts</a:t>
            </a:r>
            <a:r>
              <a:rPr lang="en-US" dirty="0"/>
              <a:t>.</a:t>
            </a:r>
          </a:p>
          <a:p>
            <a:r>
              <a:rPr lang="en-US" b="1" dirty="0"/>
              <a:t>Environment: </a:t>
            </a:r>
            <a:r>
              <a:rPr lang="en-US" dirty="0"/>
              <a:t>Separate properties for Unit (fast) and Integration (full context) tests. </a:t>
            </a:r>
          </a:p>
          <a:p>
            <a:r>
              <a:rPr lang="en-US" b="1" dirty="0"/>
              <a:t>Data: </a:t>
            </a:r>
            <a:r>
              <a:rPr lang="en-US" dirty="0"/>
              <a:t>Usage of factories and </a:t>
            </a:r>
            <a:r>
              <a:rPr lang="en-US" dirty="0" err="1"/>
              <a:t>MockDataSeeder</a:t>
            </a:r>
            <a:r>
              <a:rPr lang="en-US" dirty="0"/>
              <a:t> to avoid brittle hardcoded states. </a:t>
            </a:r>
          </a:p>
          <a:p>
            <a:r>
              <a:rPr lang="en-US" b="1" dirty="0"/>
              <a:t>Gatekeeping: </a:t>
            </a:r>
            <a:r>
              <a:rPr lang="en-US" dirty="0"/>
              <a:t>All PRs targeting main MUST pass the full backend and frontend suite before merging. </a:t>
            </a:r>
          </a:p>
        </p:txBody>
      </p:sp>
    </p:spTree>
    <p:extLst>
      <p:ext uri="{BB962C8B-B14F-4D97-AF65-F5344CB8AC3E}">
        <p14:creationId xmlns:p14="http://schemas.microsoft.com/office/powerpoint/2010/main" val="29811126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1E921-3CD9-AE4F-BE02-547E2741F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D4FFA-C254-5027-9D85-8515DCE1A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Credibility Score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91403EA-CB52-65B6-A885-DB88B9EE30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Evaluates the accuracy and reliability of a user's image annotations.</a:t>
            </a:r>
          </a:p>
          <a:p>
            <a:r>
              <a:rPr lang="en-US" sz="1800" dirty="0"/>
              <a:t>The </a:t>
            </a:r>
            <a:r>
              <a:rPr lang="en-US" sz="1800" b="1" dirty="0"/>
              <a:t>Credibility Score</a:t>
            </a:r>
            <a:r>
              <a:rPr lang="en-US" sz="1800" dirty="0"/>
              <a:t> ranges from </a:t>
            </a:r>
            <a:r>
              <a:rPr lang="en-US" sz="1800" b="1" dirty="0"/>
              <a:t>0 to 100</a:t>
            </a:r>
            <a:r>
              <a:rPr lang="en-US" sz="1800" dirty="0"/>
              <a:t> </a:t>
            </a:r>
          </a:p>
        </p:txBody>
      </p:sp>
      <p:pic>
        <p:nvPicPr>
          <p:cNvPr id="3" name="Picture 2" descr="Add user - Free user icons">
            <a:extLst>
              <a:ext uri="{FF2B5EF4-FFF2-40B4-BE49-F238E27FC236}">
                <a16:creationId xmlns:a16="http://schemas.microsoft.com/office/drawing/2014/main" id="{0A56F348-3690-ABB8-7ADE-DF7E0D187C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5791" y="28587"/>
            <a:ext cx="814269" cy="814269"/>
          </a:xfrm>
          <a:prstGeom prst="rect">
            <a:avLst/>
          </a:prstGeom>
        </p:spPr>
      </p:pic>
      <p:pic>
        <p:nvPicPr>
          <p:cNvPr id="6" name="Picture 5" descr="50 Loading 50 Progress Bar Infographics Stock Vector (Royalty Free)  2243281615 | Shutterstock">
            <a:extLst>
              <a:ext uri="{FF2B5EF4-FFF2-40B4-BE49-F238E27FC236}">
                <a16:creationId xmlns:a16="http://schemas.microsoft.com/office/drawing/2014/main" id="{04BED136-2914-1AC2-B4CF-AA5BEF3301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0115"/>
          <a:stretch>
            <a:fillRect/>
          </a:stretch>
        </p:blipFill>
        <p:spPr>
          <a:xfrm>
            <a:off x="8197591" y="837843"/>
            <a:ext cx="3156209" cy="814269"/>
          </a:xfrm>
          <a:prstGeom prst="rect">
            <a:avLst/>
          </a:prstGeom>
        </p:spPr>
      </p:pic>
      <p:pic>
        <p:nvPicPr>
          <p:cNvPr id="8" name="Picture 7" descr="Consensus - Free people icons">
            <a:extLst>
              <a:ext uri="{FF2B5EF4-FFF2-40B4-BE49-F238E27FC236}">
                <a16:creationId xmlns:a16="http://schemas.microsoft.com/office/drawing/2014/main" id="{64EFD45C-8BD0-87F2-9489-CA61370753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2053" y="4112412"/>
            <a:ext cx="859806" cy="85980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CFD3B61-A7C7-AE1A-24F6-E08547AF0BEA}"/>
              </a:ext>
            </a:extLst>
          </p:cNvPr>
          <p:cNvSpPr txBox="1"/>
          <p:nvPr/>
        </p:nvSpPr>
        <p:spPr>
          <a:xfrm>
            <a:off x="838200" y="3042344"/>
            <a:ext cx="723191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/>
              <a:t>The score is calculated using three main metrics:</a:t>
            </a:r>
          </a:p>
          <a:p>
            <a:r>
              <a:rPr lang="en-US" sz="1800" b="1" dirty="0"/>
              <a:t>Accuracy on Gold Standard Images (40%)</a:t>
            </a:r>
            <a:endParaRPr lang="en-US" sz="1800" dirty="0"/>
          </a:p>
          <a:p>
            <a:pPr lvl="1"/>
            <a:r>
              <a:rPr lang="en-US" sz="1800" dirty="0"/>
              <a:t>Measures the percentage of correct labels on images with a known ground-truth label.</a:t>
            </a:r>
          </a:p>
          <a:p>
            <a:r>
              <a:rPr lang="en-US" sz="1800" b="1" dirty="0"/>
              <a:t>Majority Consensus Agreement (35%)</a:t>
            </a:r>
            <a:endParaRPr lang="en-US" sz="1800" dirty="0"/>
          </a:p>
          <a:p>
            <a:pPr lvl="1"/>
            <a:r>
              <a:rPr lang="en-US" sz="1800" dirty="0"/>
              <a:t>Measures how often the user’s label matches the community consensus (more than 50% agreement on an image).</a:t>
            </a:r>
          </a:p>
          <a:p>
            <a:r>
              <a:rPr lang="en-US" sz="1800" b="1" dirty="0"/>
              <a:t>Expert Agreement (25%)</a:t>
            </a:r>
            <a:endParaRPr lang="en-US" sz="1800" dirty="0"/>
          </a:p>
          <a:p>
            <a:pPr lvl="1"/>
            <a:r>
              <a:rPr lang="en-US" sz="1800" dirty="0"/>
              <a:t>Measures the level of agreement between the user and expert researchers using </a:t>
            </a:r>
            <a:r>
              <a:rPr lang="en-US" sz="1800" b="1" dirty="0"/>
              <a:t>Cohen’s Kappa</a:t>
            </a:r>
            <a:r>
              <a:rPr lang="en-US" sz="1800" dirty="0"/>
              <a:t>.</a:t>
            </a:r>
          </a:p>
          <a:p>
            <a:pPr lvl="1"/>
            <a:r>
              <a:rPr lang="en-US" sz="1800" dirty="0"/>
              <a:t>Calculated based on the user's </a:t>
            </a:r>
            <a:r>
              <a:rPr lang="en-US" sz="1800" b="1" dirty="0"/>
              <a:t>50 most recent labels</a:t>
            </a:r>
            <a:r>
              <a:rPr lang="en-US" sz="1800" dirty="0"/>
              <a:t>.</a:t>
            </a:r>
          </a:p>
        </p:txBody>
      </p:sp>
      <p:pic>
        <p:nvPicPr>
          <p:cNvPr id="11" name="Picture 10" descr="Scientist - icon by Adioma">
            <a:extLst>
              <a:ext uri="{FF2B5EF4-FFF2-40B4-BE49-F238E27FC236}">
                <a16:creationId xmlns:a16="http://schemas.microsoft.com/office/drawing/2014/main" id="{99C8865F-6565-53B4-0449-36E3161880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2053" y="5621541"/>
            <a:ext cx="1028921" cy="1028921"/>
          </a:xfrm>
          <a:prstGeom prst="rect">
            <a:avLst/>
          </a:prstGeom>
        </p:spPr>
      </p:pic>
      <p:sp>
        <p:nvSpPr>
          <p:cNvPr id="13" name="Speech Bubble: Rectangle with Corners Rounded 12">
            <a:extLst>
              <a:ext uri="{FF2B5EF4-FFF2-40B4-BE49-F238E27FC236}">
                <a16:creationId xmlns:a16="http://schemas.microsoft.com/office/drawing/2014/main" id="{3404EE99-FFF2-7888-9030-95D3D6D7E5E0}"/>
              </a:ext>
            </a:extLst>
          </p:cNvPr>
          <p:cNvSpPr/>
          <p:nvPr/>
        </p:nvSpPr>
        <p:spPr>
          <a:xfrm>
            <a:off x="9377876" y="5192098"/>
            <a:ext cx="668159" cy="387336"/>
          </a:xfrm>
          <a:prstGeom prst="wedgeRoundRectCallout">
            <a:avLst>
              <a:gd name="adj1" fmla="val 17181"/>
              <a:gd name="adj2" fmla="val 76708"/>
              <a:gd name="adj3" fmla="val 16667"/>
            </a:avLst>
          </a:prstGeom>
          <a:solidFill>
            <a:srgbClr val="F2FB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Consensus - Free people icons">
            <a:extLst>
              <a:ext uri="{FF2B5EF4-FFF2-40B4-BE49-F238E27FC236}">
                <a16:creationId xmlns:a16="http://schemas.microsoft.com/office/drawing/2014/main" id="{79DAF2E3-C234-F02C-0BF4-B9EF7AEEFD6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446" t="6340" r="22289" b="63376"/>
          <a:stretch>
            <a:fillRect/>
          </a:stretch>
        </p:blipFill>
        <p:spPr>
          <a:xfrm>
            <a:off x="9493250" y="5254864"/>
            <a:ext cx="475163" cy="260386"/>
          </a:xfrm>
          <a:prstGeom prst="rect">
            <a:avLst/>
          </a:prstGeom>
        </p:spPr>
      </p:pic>
      <p:pic>
        <p:nvPicPr>
          <p:cNvPr id="17" name="Picture 16" descr="Gold Standard PNG Transparent Images Free Download | Vector Files | Pngtree">
            <a:extLst>
              <a:ext uri="{FF2B5EF4-FFF2-40B4-BE49-F238E27FC236}">
                <a16:creationId xmlns:a16="http://schemas.microsoft.com/office/drawing/2014/main" id="{52DC0170-DF79-E7F6-50EC-FC8240902B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1660" y="3104934"/>
            <a:ext cx="1220591" cy="872541"/>
          </a:xfrm>
          <a:prstGeom prst="rect">
            <a:avLst/>
          </a:prstGeom>
        </p:spPr>
      </p:pic>
      <p:sp>
        <p:nvSpPr>
          <p:cNvPr id="18" name="Speech Bubble: Rectangle with Corners Rounded 17">
            <a:extLst>
              <a:ext uri="{FF2B5EF4-FFF2-40B4-BE49-F238E27FC236}">
                <a16:creationId xmlns:a16="http://schemas.microsoft.com/office/drawing/2014/main" id="{F03A0ABE-EA91-1431-B347-5D9405A1A800}"/>
              </a:ext>
            </a:extLst>
          </p:cNvPr>
          <p:cNvSpPr/>
          <p:nvPr/>
        </p:nvSpPr>
        <p:spPr>
          <a:xfrm>
            <a:off x="9377876" y="2613729"/>
            <a:ext cx="668159" cy="387336"/>
          </a:xfrm>
          <a:prstGeom prst="wedgeRoundRectCallout">
            <a:avLst>
              <a:gd name="adj1" fmla="val -24635"/>
              <a:gd name="adj2" fmla="val 76708"/>
              <a:gd name="adj3" fmla="val 16667"/>
            </a:avLst>
          </a:prstGeom>
          <a:solidFill>
            <a:srgbClr val="F2FB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Consensus - Free people icons">
            <a:extLst>
              <a:ext uri="{FF2B5EF4-FFF2-40B4-BE49-F238E27FC236}">
                <a16:creationId xmlns:a16="http://schemas.microsoft.com/office/drawing/2014/main" id="{16ED176F-A590-5725-6713-3A2ECDCB2EB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446" t="6340" r="22289" b="63376"/>
          <a:stretch>
            <a:fillRect/>
          </a:stretch>
        </p:blipFill>
        <p:spPr>
          <a:xfrm>
            <a:off x="9493250" y="2676495"/>
            <a:ext cx="475163" cy="260386"/>
          </a:xfrm>
          <a:prstGeom prst="rect">
            <a:avLst/>
          </a:prstGeom>
        </p:spPr>
      </p:pic>
      <p:sp>
        <p:nvSpPr>
          <p:cNvPr id="20" name="Arrow: Right 19">
            <a:extLst>
              <a:ext uri="{FF2B5EF4-FFF2-40B4-BE49-F238E27FC236}">
                <a16:creationId xmlns:a16="http://schemas.microsoft.com/office/drawing/2014/main" id="{2FD5574E-ADDB-C714-A380-6D655C07521C}"/>
              </a:ext>
            </a:extLst>
          </p:cNvPr>
          <p:cNvSpPr/>
          <p:nvPr/>
        </p:nvSpPr>
        <p:spPr>
          <a:xfrm>
            <a:off x="9886479" y="1660922"/>
            <a:ext cx="1389911" cy="859806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Agree</a:t>
            </a:r>
            <a:endParaRPr lang="en-US" dirty="0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6AFA5F48-A6A8-339E-47FA-4EE973A43561}"/>
              </a:ext>
            </a:extLst>
          </p:cNvPr>
          <p:cNvSpPr/>
          <p:nvPr/>
        </p:nvSpPr>
        <p:spPr>
          <a:xfrm flipH="1">
            <a:off x="8280399" y="1665585"/>
            <a:ext cx="1389911" cy="85980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Disagree</a:t>
            </a:r>
          </a:p>
        </p:txBody>
      </p:sp>
    </p:spTree>
    <p:extLst>
      <p:ext uri="{BB962C8B-B14F-4D97-AF65-F5344CB8AC3E}">
        <p14:creationId xmlns:p14="http://schemas.microsoft.com/office/powerpoint/2010/main" val="17508145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56088-059F-2439-42CF-36B801A44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29AE8-9FCA-2BED-F077-6B06DA193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Cohen’s Kappa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B83DD85-F58A-AB01-7748-9B250588E6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066" y="1743075"/>
            <a:ext cx="7066551" cy="212717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2521E5A6-0B99-C5AE-5918-BBF7D4A67A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4620" y="1838232"/>
            <a:ext cx="3692580" cy="2416044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E5EA7533-AB05-5716-F92C-405FA44060AA}"/>
              </a:ext>
            </a:extLst>
          </p:cNvPr>
          <p:cNvSpPr txBox="1"/>
          <p:nvPr/>
        </p:nvSpPr>
        <p:spPr>
          <a:xfrm>
            <a:off x="745067" y="4465617"/>
            <a:ext cx="10515599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Use in Our Project</a:t>
            </a:r>
          </a:p>
          <a:p>
            <a:pPr>
              <a:buNone/>
            </a:pPr>
            <a:endParaRPr lang="en-US" sz="12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Measures agreement between a </a:t>
            </a:r>
            <a:r>
              <a:rPr lang="en-US" sz="2000" b="1" dirty="0"/>
              <a:t>user</a:t>
            </a:r>
            <a:r>
              <a:rPr lang="en-US" sz="2000" dirty="0"/>
              <a:t> and </a:t>
            </a:r>
            <a:r>
              <a:rPr lang="en-US" sz="2000" b="1" dirty="0"/>
              <a:t>expert researchers</a:t>
            </a:r>
            <a:r>
              <a:rPr lang="en-US" sz="2000" dirty="0"/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Calculated using the user's </a:t>
            </a:r>
            <a:r>
              <a:rPr lang="en-US" sz="2000" b="1" dirty="0"/>
              <a:t>50 most recent labels</a:t>
            </a:r>
            <a:r>
              <a:rPr lang="en-US" sz="2000" dirty="0"/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Contributes </a:t>
            </a:r>
            <a:r>
              <a:rPr lang="en-US" sz="2000" b="1" dirty="0"/>
              <a:t>25%</a:t>
            </a:r>
            <a:r>
              <a:rPr lang="en-US" sz="2000" dirty="0"/>
              <a:t> of the overall </a:t>
            </a:r>
            <a:r>
              <a:rPr lang="en-US" sz="2000" b="1" dirty="0"/>
              <a:t>Credibility Score</a:t>
            </a:r>
            <a:r>
              <a:rPr lang="en-US" sz="2000" dirty="0"/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Higher κ values indicate stronger alignment with expert judgments and higher annotation reliability.</a:t>
            </a:r>
          </a:p>
        </p:txBody>
      </p:sp>
    </p:spTree>
    <p:extLst>
      <p:ext uri="{BB962C8B-B14F-4D97-AF65-F5344CB8AC3E}">
        <p14:creationId xmlns:p14="http://schemas.microsoft.com/office/powerpoint/2010/main" val="26923557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26589-B2AD-A5D1-7F25-70457B955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51380-FC0B-7E5E-E52A-F104B313B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34060" cy="1325563"/>
          </a:xfrm>
        </p:spPr>
        <p:txBody>
          <a:bodyPr/>
          <a:lstStyle/>
          <a:p>
            <a:r>
              <a:rPr lang="en-US" b="1" dirty="0"/>
              <a:t>Addressing the Expert Agreement Limitation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167EC9-6A44-6DCB-907D-44886D6C6B44}"/>
              </a:ext>
            </a:extLst>
          </p:cNvPr>
          <p:cNvSpPr txBox="1"/>
          <p:nvPr/>
        </p:nvSpPr>
        <p:spPr>
          <a:xfrm>
            <a:off x="838200" y="1842155"/>
            <a:ext cx="9081976" cy="16312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Challenge: Expert Disagreement</a:t>
            </a:r>
            <a:endParaRPr lang="en-US" sz="2000" dirty="0"/>
          </a:p>
          <a:p>
            <a:pPr>
              <a:buNone/>
            </a:pPr>
            <a:r>
              <a:rPr lang="en-US" sz="2000" dirty="0"/>
              <a:t>Experts are often used as the reference standard, but they may disagree on ambiguous images.</a:t>
            </a:r>
          </a:p>
          <a:p>
            <a:pPr>
              <a:buNone/>
            </a:pPr>
            <a:r>
              <a:rPr lang="en-US" sz="2000" dirty="0"/>
              <a:t>As a result, agreement with a single expert may not always reflect the true quality of a user’s labeling.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790588-1E3F-86F7-6285-8E7B929D80CD}"/>
              </a:ext>
            </a:extLst>
          </p:cNvPr>
          <p:cNvSpPr txBox="1"/>
          <p:nvPr/>
        </p:nvSpPr>
        <p:spPr>
          <a:xfrm>
            <a:off x="2996609" y="3827844"/>
            <a:ext cx="8975651" cy="224676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b="1" dirty="0"/>
              <a:t>Solution: Multi-Signal Credibility Scoring</a:t>
            </a:r>
          </a:p>
          <a:p>
            <a:r>
              <a:rPr lang="en-US" sz="2000" dirty="0"/>
              <a:t>Our system treats expert agreement as an important quality signal, but not as absolute truth. </a:t>
            </a:r>
          </a:p>
          <a:p>
            <a:r>
              <a:rPr lang="en-US" sz="2000" dirty="0"/>
              <a:t>By combining expert judgments with verified ground-truth labels and community consensus, </a:t>
            </a:r>
          </a:p>
          <a:p>
            <a:r>
              <a:rPr lang="en-US" sz="2000" dirty="0"/>
              <a:t>the Credibility Score remains robust even when experts disagree on individual cases.</a:t>
            </a:r>
          </a:p>
        </p:txBody>
      </p:sp>
      <p:pic>
        <p:nvPicPr>
          <p:cNvPr id="9" name="Picture 8" descr="510+ Doctors Disagree Stock Illustrations, Royalty-Free Vector Graphics &amp;  Clip Art - iStock">
            <a:extLst>
              <a:ext uri="{FF2B5EF4-FFF2-40B4-BE49-F238E27FC236}">
                <a16:creationId xmlns:a16="http://schemas.microsoft.com/office/drawing/2014/main" id="{311406C4-CD6C-99DD-D47D-16169C684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6607" y="1607995"/>
            <a:ext cx="1609344" cy="1865376"/>
          </a:xfrm>
          <a:prstGeom prst="rect">
            <a:avLst/>
          </a:prstGeom>
        </p:spPr>
      </p:pic>
      <p:pic>
        <p:nvPicPr>
          <p:cNvPr id="11" name="Picture 10" descr="Multi channel vector icon. architecture illustration sign. communication  symbol. 20361244 Vector Art at Vecteezy">
            <a:extLst>
              <a:ext uri="{FF2B5EF4-FFF2-40B4-BE49-F238E27FC236}">
                <a16:creationId xmlns:a16="http://schemas.microsoft.com/office/drawing/2014/main" id="{7F597542-4384-E1C8-E219-234F3D10B3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703" y="3827844"/>
            <a:ext cx="2172906" cy="2172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8962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6353F-1E60-B2BE-E5F7-A19A8E255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CBB03-AF0E-BA04-6B0F-0AFC37407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34060" cy="1325563"/>
          </a:xfrm>
        </p:spPr>
        <p:txBody>
          <a:bodyPr/>
          <a:lstStyle/>
          <a:p>
            <a:r>
              <a:rPr lang="en-US" b="1" dirty="0"/>
              <a:t>How Our System Addresses This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961042-3355-4615-BF38-53C79542EF9B}"/>
              </a:ext>
            </a:extLst>
          </p:cNvPr>
          <p:cNvSpPr txBox="1"/>
          <p:nvPr/>
        </p:nvSpPr>
        <p:spPr>
          <a:xfrm>
            <a:off x="754912" y="1690688"/>
            <a:ext cx="10951533" cy="4664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Multi-factor evaluation:</a:t>
            </a:r>
            <a:r>
              <a:rPr lang="en-US" sz="2000" dirty="0"/>
              <a:t> Expert agreement contributes only </a:t>
            </a:r>
            <a:r>
              <a:rPr lang="en-US" sz="2000" b="1" dirty="0"/>
              <a:t>25%</a:t>
            </a:r>
            <a:r>
              <a:rPr lang="en-US" sz="2000" dirty="0"/>
              <a:t> of the Credibility Score.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Independent validation sources:</a:t>
            </a:r>
            <a:r>
              <a:rPr lang="en-US" sz="2000" dirty="0"/>
              <a:t> The remaining </a:t>
            </a:r>
            <a:r>
              <a:rPr lang="en-US" sz="2000" b="1" dirty="0"/>
              <a:t>75%</a:t>
            </a:r>
            <a:r>
              <a:rPr lang="en-US" sz="2000" dirty="0"/>
              <a:t> comes from: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Gold Standard Images (40%)</a:t>
            </a:r>
            <a:r>
              <a:rPr lang="en-US" sz="2000" dirty="0"/>
              <a:t> – objectively verified labels.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Community Consensus (35%)</a:t>
            </a:r>
            <a:r>
              <a:rPr lang="en-US" sz="2000" dirty="0"/>
              <a:t> – agreement with the majority of annotators.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Limited influence of experts:</a:t>
            </a:r>
            <a:r>
              <a:rPr lang="en-US" sz="2000" dirty="0"/>
              <a:t> Expert agreement is only one component and cannot solely determine a user's credibility.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Missing-data handling:</a:t>
            </a:r>
            <a:r>
              <a:rPr lang="en-US" sz="2000" dirty="0"/>
              <a:t> If expert comparisons are unavailable, the score is recalculated using the remaining metrics, preventing unfair penalties.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Focus on recent performance:</a:t>
            </a:r>
            <a:r>
              <a:rPr lang="en-US" sz="2000" dirty="0"/>
              <a:t> Expert agreement is computed using the user's </a:t>
            </a:r>
            <a:r>
              <a:rPr lang="en-US" sz="2000" b="1" dirty="0"/>
              <a:t>50 most recent annotations</a:t>
            </a:r>
            <a:r>
              <a:rPr lang="en-US" sz="2000" dirty="0"/>
              <a:t>, ensuring the score reflects current behavior rather than historical mistakes.</a:t>
            </a:r>
          </a:p>
        </p:txBody>
      </p:sp>
    </p:spTree>
    <p:extLst>
      <p:ext uri="{BB962C8B-B14F-4D97-AF65-F5344CB8AC3E}">
        <p14:creationId xmlns:p14="http://schemas.microsoft.com/office/powerpoint/2010/main" val="2824466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מסמך" ma:contentTypeID="0x010100FB479614B45FBD42B11A42921FFC5FE5" ma:contentTypeVersion="15" ma:contentTypeDescription="צור מסמך חדש." ma:contentTypeScope="" ma:versionID="305e55a64000fa820b42af206afae363">
  <xsd:schema xmlns:xsd="http://www.w3.org/2001/XMLSchema" xmlns:xs="http://www.w3.org/2001/XMLSchema" xmlns:p="http://schemas.microsoft.com/office/2006/metadata/properties" xmlns:ns3="d148b795-9daf-4238-a363-16fecd749640" xmlns:ns4="4577ff50-15b8-4fa9-93a6-3c2ac2f81161" targetNamespace="http://schemas.microsoft.com/office/2006/metadata/properties" ma:root="true" ma:fieldsID="89e5944ae3c4b6fc06902bb9e0d3db83" ns3:_="" ns4:_="">
    <xsd:import namespace="d148b795-9daf-4238-a363-16fecd749640"/>
    <xsd:import namespace="4577ff50-15b8-4fa9-93a6-3c2ac2f8116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LengthInSecond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48b795-9daf-4238-a363-16fecd7496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77ff50-15b8-4fa9-93a6-3c2ac2f81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משותף עם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משותף עם פרטים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ash של רמז לשיתוף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סוג תוכן"/>
        <xsd:element ref="dc:title" minOccurs="0" maxOccurs="1" ma:index="4" ma:displayName="כותרת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148b795-9daf-4238-a363-16fecd749640" xsi:nil="true"/>
  </documentManagement>
</p:properties>
</file>

<file path=customXml/itemProps1.xml><?xml version="1.0" encoding="utf-8"?>
<ds:datastoreItem xmlns:ds="http://schemas.openxmlformats.org/officeDocument/2006/customXml" ds:itemID="{136BB636-9242-4766-A0C4-8C0FCC1E208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148b795-9daf-4238-a363-16fecd749640"/>
    <ds:schemaRef ds:uri="4577ff50-15b8-4fa9-93a6-3c2ac2f81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5EE12BC-FB22-4715-BA29-F6A1429925E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2BD9203-E66D-4436-A69F-58CFDAB2C4BA}">
  <ds:schemaRefs>
    <ds:schemaRef ds:uri="d148b795-9daf-4238-a363-16fecd749640"/>
    <ds:schemaRef ds:uri="4577ff50-15b8-4fa9-93a6-3c2ac2f81161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2962</TotalTime>
  <Words>1386</Words>
  <Application>Microsoft Office PowerPoint</Application>
  <PresentationFormat>Widescreen</PresentationFormat>
  <Paragraphs>266</Paragraphs>
  <Slides>28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Aptos</vt:lpstr>
      <vt:lpstr>Aptos Display</vt:lpstr>
      <vt:lpstr>Arial</vt:lpstr>
      <vt:lpstr>Calibri</vt:lpstr>
      <vt:lpstr>Play</vt:lpstr>
      <vt:lpstr>Office Theme</vt:lpstr>
      <vt:lpstr>PowerPoint Presentation</vt:lpstr>
      <vt:lpstr>The Motivation Through Example</vt:lpstr>
      <vt:lpstr>PowerPoint Presentation</vt:lpstr>
      <vt:lpstr>STARdbi – what is it?</vt:lpstr>
      <vt:lpstr>The Problem: The "Labeling Bottleneck"</vt:lpstr>
      <vt:lpstr>PowerPoint Presentation</vt:lpstr>
      <vt:lpstr>The Solution: Gamified Citizen Science</vt:lpstr>
      <vt:lpstr>The Researcher Side: From Labels to Insights</vt:lpstr>
      <vt:lpstr>Main Challenges</vt:lpstr>
      <vt:lpstr>Driving Engagement Through Gamification</vt:lpstr>
      <vt:lpstr>Data Integrity &amp; Fraud Detection </vt:lpstr>
      <vt:lpstr>Project Tech Stack</vt:lpstr>
      <vt:lpstr>Tests Strategy Overview</vt:lpstr>
      <vt:lpstr>The Value Of SwipeLab</vt:lpstr>
      <vt:lpstr>SwipeLab System Demonstration</vt:lpstr>
      <vt:lpstr>Questions?</vt:lpstr>
      <vt:lpstr>Backup slides</vt:lpstr>
      <vt:lpstr>Delivering Faster With AI Tools</vt:lpstr>
      <vt:lpstr>Backend Design</vt:lpstr>
      <vt:lpstr>Backend Package Design</vt:lpstr>
      <vt:lpstr>Backend Testing Stack</vt:lpstr>
      <vt:lpstr>Backend Test Layers</vt:lpstr>
      <vt:lpstr>Frontend: User Journeys</vt:lpstr>
      <vt:lpstr>Conventions &amp; CI/CD Guardrails</vt:lpstr>
      <vt:lpstr>Credibility Score</vt:lpstr>
      <vt:lpstr>Cohen’s Kappa</vt:lpstr>
      <vt:lpstr>Addressing the Expert Agreement Limitation</vt:lpstr>
      <vt:lpstr>How Our System Addresses This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שגיא עברוני</dc:creator>
  <cp:lastModifiedBy>שגיא עברוני</cp:lastModifiedBy>
  <cp:revision>135</cp:revision>
  <dcterms:created xsi:type="dcterms:W3CDTF">2026-01-04T18:55:14Z</dcterms:created>
  <dcterms:modified xsi:type="dcterms:W3CDTF">2026-06-24T21:05:46Z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0x010100FB479614B45FBD42B11A42921FFC5FE5</vt:lpwstr>
  </property>
</Properties>
</file>